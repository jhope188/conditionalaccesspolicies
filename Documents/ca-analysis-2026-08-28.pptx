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0995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72400" y="365760"/>
            <a:ext cx="3474720" cy="2313432"/>
          </a:xfrm>
          <a:prstGeom prst="ellipse">
            <a:avLst/>
          </a:prstGeom>
        </p:spPr>
      </p:pic>
      <p:sp>
        <p:nvSpPr>
          <p:cNvPr id="3" name="Text 0"/>
          <p:cNvSpPr/>
          <p:nvPr/>
        </p:nvSpPr>
        <p:spPr>
          <a:xfrm>
            <a:off x="731520" y="1371600"/>
            <a:ext cx="6858000" cy="2286000"/>
          </a:xfrm>
          <a:prstGeom prst="rect">
            <a:avLst/>
          </a:prstGeom>
          <a:noFill/>
          <a:ln/>
        </p:spPr>
        <p:txBody>
          <a:bodyPr wrap="square" rtlCol="0" anchor="ctr"/>
          <a:lstStyle/>
          <a:p>
            <a:pPr marL="0" indent="0">
              <a:lnSpc>
                <a:spcPct val="120000"/>
              </a:lnSpc>
              <a:buNone/>
            </a:pPr>
            <a:r>
              <a:rPr lang="en-US" sz="3600" b="1" dirty="0">
                <a:solidFill>
                  <a:srgbClr val="FFFFFF"/>
                </a:solidFill>
                <a:latin typeface="Arial" pitchFamily="34" charset="0"/>
                <a:ea typeface="Arial" pitchFamily="34" charset="-122"/>
                <a:cs typeface="Arial" pitchFamily="34" charset="-120"/>
              </a:rPr>
              <a:t>Conditional Access</a:t>
            </a:r>
            <a:endParaRPr lang="en-US" sz="3600" dirty="0"/>
          </a:p>
          <a:p>
            <a:pPr marL="0" indent="0">
              <a:lnSpc>
                <a:spcPct val="120000"/>
              </a:lnSpc>
              <a:buNone/>
            </a:pPr>
            <a:r>
              <a:rPr lang="en-US" sz="3600" b="1" dirty="0">
                <a:solidFill>
                  <a:srgbClr val="FFFFFF"/>
                </a:solidFill>
                <a:latin typeface="Arial" pitchFamily="34" charset="0"/>
                <a:ea typeface="Arial" pitchFamily="34" charset="-122"/>
                <a:cs typeface="Arial" pitchFamily="34" charset="-120"/>
              </a:rPr>
              <a:t>Policy Analysis</a:t>
            </a:r>
            <a:endParaRPr lang="en-US" sz="3600" dirty="0"/>
          </a:p>
        </p:txBody>
      </p:sp>
      <p:sp>
        <p:nvSpPr>
          <p:cNvPr id="4" name="Text 1"/>
          <p:cNvSpPr/>
          <p:nvPr/>
        </p:nvSpPr>
        <p:spPr>
          <a:xfrm>
            <a:off x="731520" y="3474720"/>
            <a:ext cx="10058400" cy="365760"/>
          </a:xfrm>
          <a:prstGeom prst="rect">
            <a:avLst/>
          </a:prstGeom>
          <a:noFill/>
          <a:ln/>
        </p:spPr>
        <p:txBody>
          <a:bodyPr wrap="square" rtlCol="0" anchor="ctr"/>
          <a:lstStyle/>
          <a:p>
            <a:pPr marL="0" indent="0">
              <a:buNone/>
            </a:pPr>
            <a:r>
              <a:rPr lang="en-US" sz="1400" b="1" dirty="0">
                <a:solidFill>
                  <a:srgbClr val="3B82F6"/>
                </a:solidFill>
                <a:latin typeface="Arial" pitchFamily="34" charset="0"/>
                <a:ea typeface="Arial" pitchFamily="34" charset="-122"/>
                <a:cs typeface="Arial" pitchFamily="34" charset="-120"/>
              </a:rPr>
              <a:t>Conditional Access Tech  •  86600c1e-803d-49b9-a963-036358886be9</a:t>
            </a:r>
            <a:endParaRPr lang="en-US" sz="1400" dirty="0"/>
          </a:p>
        </p:txBody>
      </p:sp>
      <p:sp>
        <p:nvSpPr>
          <p:cNvPr id="5" name="Text 2"/>
          <p:cNvSpPr/>
          <p:nvPr/>
        </p:nvSpPr>
        <p:spPr>
          <a:xfrm>
            <a:off x="731520" y="3840480"/>
            <a:ext cx="10058400" cy="457200"/>
          </a:xfrm>
          <a:prstGeom prst="rect">
            <a:avLst/>
          </a:prstGeom>
          <a:noFill/>
          <a:ln/>
        </p:spPr>
        <p:txBody>
          <a:bodyPr wrap="square" rtlCol="0" anchor="ctr"/>
          <a:lstStyle/>
          <a:p>
            <a:pPr marL="0" indent="0">
              <a:buNone/>
            </a:pPr>
            <a:r>
              <a:rPr lang="en-US" sz="1400" dirty="0">
                <a:solidFill>
                  <a:srgbClr val="94A3B8"/>
                </a:solidFill>
                <a:latin typeface="Arial" pitchFamily="34" charset="0"/>
                <a:ea typeface="Arial" pitchFamily="34" charset="-122"/>
                <a:cs typeface="Arial" pitchFamily="34" charset="-120"/>
              </a:rPr>
              <a:t>Generated 8/28/2026</a:t>
            </a:r>
            <a:endParaRPr lang="en-US" sz="1400" dirty="0"/>
          </a:p>
        </p:txBody>
      </p:sp>
      <p:sp>
        <p:nvSpPr>
          <p:cNvPr id="6" name="Text 3"/>
          <p:cNvSpPr/>
          <p:nvPr/>
        </p:nvSpPr>
        <p:spPr>
          <a:xfrm>
            <a:off x="731520" y="4297680"/>
            <a:ext cx="10058400" cy="36576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57 policies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
        <p:nvSpPr>
          <p:cNvPr id="3" name="Text 1"/>
          <p:cNvSpPr/>
          <p:nvPr/>
        </p:nvSpPr>
        <p:spPr>
          <a:xfrm>
            <a:off x="731520" y="1097280"/>
            <a:ext cx="2286000" cy="1645920"/>
          </a:xfrm>
          <a:prstGeom prst="rect">
            <a:avLst/>
          </a:prstGeom>
          <a:noFill/>
          <a:ln/>
        </p:spPr>
        <p:txBody>
          <a:bodyPr wrap="square" rtlCol="0" anchor="ctr"/>
          <a:lstStyle/>
          <a:p>
            <a:pPr marL="0" indent="0" algn="ctr">
              <a:buNone/>
            </a:pPr>
            <a:r>
              <a:rPr lang="en-US" sz="6400" b="1" dirty="0">
                <a:solidFill>
                  <a:srgbClr val="EAB308"/>
                </a:solidFill>
                <a:latin typeface="Arial" pitchFamily="34" charset="0"/>
                <a:ea typeface="Arial" pitchFamily="34" charset="-122"/>
                <a:cs typeface="Arial" pitchFamily="34" charset="-120"/>
              </a:rPr>
              <a:t>70</a:t>
            </a:r>
            <a:endParaRPr lang="en-US" sz="6400" dirty="0"/>
          </a:p>
        </p:txBody>
      </p:sp>
      <p:sp>
        <p:nvSpPr>
          <p:cNvPr id="4" name="Text 2"/>
          <p:cNvSpPr/>
          <p:nvPr/>
        </p:nvSpPr>
        <p:spPr>
          <a:xfrm>
            <a:off x="731520" y="2743200"/>
            <a:ext cx="2286000" cy="731520"/>
          </a:xfrm>
          <a:prstGeom prst="rect">
            <a:avLst/>
          </a:prstGeom>
          <a:noFill/>
          <a:ln/>
        </p:spPr>
        <p:txBody>
          <a:bodyPr wrap="square" rtlCol="0" anchor="ctr"/>
          <a:lstStyle/>
          <a:p>
            <a:pPr marL="0" indent="0" algn="ctr">
              <a:lnSpc>
                <a:spcPct val="140000"/>
              </a:lnSpc>
              <a:buNone/>
            </a:pPr>
            <a:r>
              <a:rPr lang="en-US" sz="1100" dirty="0">
                <a:solidFill>
                  <a:srgbClr val="94A3B8"/>
                </a:solidFill>
                <a:latin typeface="Arial" pitchFamily="34" charset="0"/>
                <a:ea typeface="Arial" pitchFamily="34" charset="-122"/>
                <a:cs typeface="Arial" pitchFamily="34" charset="-120"/>
              </a:rPr>
              <a:t>Grade: C</a:t>
            </a:r>
            <a:endParaRPr lang="en-US" sz="1100" dirty="0"/>
          </a:p>
          <a:p>
            <a:pPr marL="0" indent="0" algn="ctr">
              <a:lnSpc>
                <a:spcPct val="140000"/>
              </a:lnSpc>
              <a:buNone/>
            </a:pPr>
            <a:r>
              <a:rPr lang="en-US" sz="1100" dirty="0">
                <a:solidFill>
                  <a:srgbClr val="94A3B8"/>
                </a:solidFill>
                <a:latin typeface="Arial" pitchFamily="34" charset="0"/>
                <a:ea typeface="Arial" pitchFamily="34" charset="-122"/>
                <a:cs typeface="Arial" pitchFamily="34" charset="-120"/>
              </a:rPr>
              <a:t>Security Posture Score</a:t>
            </a:r>
            <a:endParaRPr lang="en-US" sz="1100" dirty="0"/>
          </a:p>
        </p:txBody>
      </p:sp>
      <p:sp>
        <p:nvSpPr>
          <p:cNvPr id="5" name="Text 3"/>
          <p:cNvSpPr/>
          <p:nvPr/>
        </p:nvSpPr>
        <p:spPr>
          <a:xfrm>
            <a:off x="3474720" y="1188720"/>
            <a:ext cx="3657600" cy="411480"/>
          </a:xfrm>
          <a:prstGeom prst="rect">
            <a:avLst/>
          </a:prstGeom>
          <a:noFill/>
          <a:ln/>
        </p:spPr>
        <p:txBody>
          <a:bodyPr wrap="square" rtlCol="0" anchor="ctr"/>
          <a:lstStyle/>
          <a:p>
            <a:pPr marL="0" indent="0">
              <a:buNone/>
            </a:pPr>
            <a:r>
              <a:rPr lang="en-US" sz="1300" dirty="0">
                <a:solidFill>
                  <a:srgbClr val="3B82F6"/>
                </a:solidFill>
                <a:latin typeface="Arial" pitchFamily="34" charset="0"/>
                <a:ea typeface="Arial" pitchFamily="34" charset="-122"/>
                <a:cs typeface="Arial" pitchFamily="34" charset="-120"/>
              </a:rPr>
              <a:t>CIS Alignment:  45 / 50</a:t>
            </a:r>
            <a:endParaRPr lang="en-US" sz="1300" dirty="0"/>
          </a:p>
        </p:txBody>
      </p:sp>
      <p:sp>
        <p:nvSpPr>
          <p:cNvPr id="6" name="Text 4"/>
          <p:cNvSpPr/>
          <p:nvPr/>
        </p:nvSpPr>
        <p:spPr>
          <a:xfrm>
            <a:off x="3474720" y="1828800"/>
            <a:ext cx="3657600" cy="411480"/>
          </a:xfrm>
          <a:prstGeom prst="rect">
            <a:avLst/>
          </a:prstGeom>
          <a:noFill/>
          <a:ln/>
        </p:spPr>
        <p:txBody>
          <a:bodyPr wrap="square" rtlCol="0" anchor="ctr"/>
          <a:lstStyle/>
          <a:p>
            <a:pPr marL="0" indent="0">
              <a:buNone/>
            </a:pPr>
            <a:r>
              <a:rPr lang="en-US" sz="1300" dirty="0">
                <a:solidFill>
                  <a:srgbClr val="A855F7"/>
                </a:solidFill>
                <a:latin typeface="Arial" pitchFamily="34" charset="0"/>
                <a:ea typeface="Arial" pitchFamily="34" charset="-122"/>
                <a:cs typeface="Arial" pitchFamily="34" charset="-120"/>
              </a:rPr>
              <a:t>Template Coverage:  17 / 25</a:t>
            </a:r>
            <a:endParaRPr lang="en-US" sz="1300" dirty="0"/>
          </a:p>
        </p:txBody>
      </p:sp>
      <p:sp>
        <p:nvSpPr>
          <p:cNvPr id="7" name="Text 5"/>
          <p:cNvSpPr/>
          <p:nvPr/>
        </p:nvSpPr>
        <p:spPr>
          <a:xfrm>
            <a:off x="3474720" y="2468880"/>
            <a:ext cx="3657600" cy="411480"/>
          </a:xfrm>
          <a:prstGeom prst="rect">
            <a:avLst/>
          </a:prstGeom>
          <a:noFill/>
          <a:ln/>
        </p:spPr>
        <p:txBody>
          <a:bodyPr wrap="square" rtlCol="0" anchor="ctr"/>
          <a:lstStyle/>
          <a:p>
            <a:pPr marL="0" indent="0">
              <a:buNone/>
            </a:pPr>
            <a:r>
              <a:rPr lang="en-US" sz="1300" dirty="0">
                <a:solidFill>
                  <a:srgbClr val="22C55E"/>
                </a:solidFill>
                <a:latin typeface="Arial" pitchFamily="34" charset="0"/>
                <a:ea typeface="Arial" pitchFamily="34" charset="-122"/>
                <a:cs typeface="Arial" pitchFamily="34" charset="-120"/>
              </a:rPr>
              <a:t>Config Quality:  8 / 25</a:t>
            </a:r>
            <a:endParaRPr lang="en-US" sz="1300" dirty="0"/>
          </a:p>
        </p:txBody>
      </p:sp>
      <p:sp>
        <p:nvSpPr>
          <p:cNvPr id="8" name="Text 6"/>
          <p:cNvSpPr/>
          <p:nvPr/>
        </p:nvSpPr>
        <p:spPr>
          <a:xfrm>
            <a:off x="7772400" y="1188720"/>
            <a:ext cx="1097280" cy="457200"/>
          </a:xfrm>
          <a:prstGeom prst="rect">
            <a:avLst/>
          </a:prstGeom>
          <a:noFill/>
          <a:ln/>
        </p:spPr>
        <p:txBody>
          <a:bodyPr wrap="square" rtlCol="0" anchor="ctr"/>
          <a:lstStyle/>
          <a:p>
            <a:pPr marL="0" indent="0" algn="r">
              <a:buNone/>
            </a:pPr>
            <a:r>
              <a:rPr lang="en-US" sz="2800" b="1" dirty="0">
                <a:solidFill>
                  <a:srgbClr val="FFFFFF"/>
                </a:solidFill>
                <a:latin typeface="Arial" pitchFamily="34" charset="0"/>
                <a:ea typeface="Arial" pitchFamily="34" charset="-122"/>
                <a:cs typeface="Arial" pitchFamily="34" charset="-120"/>
              </a:rPr>
              <a:t>57</a:t>
            </a:r>
            <a:endParaRPr lang="en-US" sz="2800" dirty="0"/>
          </a:p>
        </p:txBody>
      </p:sp>
      <p:sp>
        <p:nvSpPr>
          <p:cNvPr id="9" name="Text 7"/>
          <p:cNvSpPr/>
          <p:nvPr/>
        </p:nvSpPr>
        <p:spPr>
          <a:xfrm>
            <a:off x="8961120" y="1234440"/>
            <a:ext cx="2743200" cy="411480"/>
          </a:xfrm>
          <a:prstGeom prst="rect">
            <a:avLst/>
          </a:prstGeom>
          <a:noFill/>
          <a:ln/>
        </p:spPr>
        <p:txBody>
          <a:bodyPr wrap="square" rtlCol="0" anchor="ctr"/>
          <a:lstStyle/>
          <a:p>
            <a:pPr marL="0" indent="0">
              <a:buNone/>
            </a:pPr>
            <a:r>
              <a:rPr lang="en-US" sz="1300" dirty="0">
                <a:solidFill>
                  <a:srgbClr val="94A3B8"/>
                </a:solidFill>
                <a:latin typeface="Arial" pitchFamily="34" charset="0"/>
                <a:ea typeface="Arial" pitchFamily="34" charset="-122"/>
                <a:cs typeface="Arial" pitchFamily="34" charset="-120"/>
              </a:rPr>
              <a:t>Total Policies</a:t>
            </a:r>
            <a:endParaRPr lang="en-US" sz="1300" dirty="0"/>
          </a:p>
        </p:txBody>
      </p:sp>
      <p:sp>
        <p:nvSpPr>
          <p:cNvPr id="10" name="Text 8"/>
          <p:cNvSpPr/>
          <p:nvPr/>
        </p:nvSpPr>
        <p:spPr>
          <a:xfrm>
            <a:off x="7772400" y="1783080"/>
            <a:ext cx="1097280" cy="457200"/>
          </a:xfrm>
          <a:prstGeom prst="rect">
            <a:avLst/>
          </a:prstGeom>
          <a:noFill/>
          <a:ln/>
        </p:spPr>
        <p:txBody>
          <a:bodyPr wrap="square" rtlCol="0" anchor="ctr"/>
          <a:lstStyle/>
          <a:p>
            <a:pPr marL="0" indent="0" algn="r">
              <a:buNone/>
            </a:pPr>
            <a:r>
              <a:rPr lang="en-US" sz="2800" b="1" dirty="0">
                <a:solidFill>
                  <a:srgbClr val="22C55E"/>
                </a:solidFill>
                <a:latin typeface="Arial" pitchFamily="34" charset="0"/>
                <a:ea typeface="Arial" pitchFamily="34" charset="-122"/>
                <a:cs typeface="Arial" pitchFamily="34" charset="-120"/>
              </a:rPr>
              <a:t>27</a:t>
            </a:r>
            <a:endParaRPr lang="en-US" sz="2800" dirty="0"/>
          </a:p>
        </p:txBody>
      </p:sp>
      <p:sp>
        <p:nvSpPr>
          <p:cNvPr id="11" name="Text 9"/>
          <p:cNvSpPr/>
          <p:nvPr/>
        </p:nvSpPr>
        <p:spPr>
          <a:xfrm>
            <a:off x="8961120" y="1828800"/>
            <a:ext cx="2743200" cy="411480"/>
          </a:xfrm>
          <a:prstGeom prst="rect">
            <a:avLst/>
          </a:prstGeom>
          <a:noFill/>
          <a:ln/>
        </p:spPr>
        <p:txBody>
          <a:bodyPr wrap="square" rtlCol="0" anchor="ctr"/>
          <a:lstStyle/>
          <a:p>
            <a:pPr marL="0" indent="0">
              <a:buNone/>
            </a:pPr>
            <a:r>
              <a:rPr lang="en-US" sz="1300" dirty="0">
                <a:solidFill>
                  <a:srgbClr val="94A3B8"/>
                </a:solidFill>
                <a:latin typeface="Arial" pitchFamily="34" charset="0"/>
                <a:ea typeface="Arial" pitchFamily="34" charset="-122"/>
                <a:cs typeface="Arial" pitchFamily="34" charset="-120"/>
              </a:rPr>
              <a:t>Enabled</a:t>
            </a:r>
            <a:endParaRPr lang="en-US" sz="1300" dirty="0"/>
          </a:p>
        </p:txBody>
      </p:sp>
      <p:sp>
        <p:nvSpPr>
          <p:cNvPr id="12" name="Text 10"/>
          <p:cNvSpPr/>
          <p:nvPr/>
        </p:nvSpPr>
        <p:spPr>
          <a:xfrm>
            <a:off x="7772400" y="2377440"/>
            <a:ext cx="1097280" cy="457200"/>
          </a:xfrm>
          <a:prstGeom prst="rect">
            <a:avLst/>
          </a:prstGeom>
          <a:noFill/>
          <a:ln/>
        </p:spPr>
        <p:txBody>
          <a:bodyPr wrap="square" rtlCol="0" anchor="ctr"/>
          <a:lstStyle/>
          <a:p>
            <a:pPr marL="0" indent="0" algn="r">
              <a:buNone/>
            </a:pPr>
            <a:r>
              <a:rPr lang="en-US" sz="2800" b="1" dirty="0">
                <a:solidFill>
                  <a:srgbClr val="EAB308"/>
                </a:solidFill>
                <a:latin typeface="Arial" pitchFamily="34" charset="0"/>
                <a:ea typeface="Arial" pitchFamily="34" charset="-122"/>
                <a:cs typeface="Arial" pitchFamily="34" charset="-120"/>
              </a:rPr>
              <a:t>26</a:t>
            </a:r>
            <a:endParaRPr lang="en-US" sz="2800" dirty="0"/>
          </a:p>
        </p:txBody>
      </p:sp>
      <p:sp>
        <p:nvSpPr>
          <p:cNvPr id="13" name="Text 11"/>
          <p:cNvSpPr/>
          <p:nvPr/>
        </p:nvSpPr>
        <p:spPr>
          <a:xfrm>
            <a:off x="8961120" y="2423160"/>
            <a:ext cx="2743200" cy="411480"/>
          </a:xfrm>
          <a:prstGeom prst="rect">
            <a:avLst/>
          </a:prstGeom>
          <a:noFill/>
          <a:ln/>
        </p:spPr>
        <p:txBody>
          <a:bodyPr wrap="square" rtlCol="0" anchor="ctr"/>
          <a:lstStyle/>
          <a:p>
            <a:pPr marL="0" indent="0">
              <a:buNone/>
            </a:pPr>
            <a:r>
              <a:rPr lang="en-US" sz="1300" dirty="0">
                <a:solidFill>
                  <a:srgbClr val="94A3B8"/>
                </a:solidFill>
                <a:latin typeface="Arial" pitchFamily="34" charset="0"/>
                <a:ea typeface="Arial" pitchFamily="34" charset="-122"/>
                <a:cs typeface="Arial" pitchFamily="34" charset="-120"/>
              </a:rPr>
              <a:t>Report-only</a:t>
            </a:r>
            <a:endParaRPr lang="en-US" sz="1300" dirty="0"/>
          </a:p>
        </p:txBody>
      </p:sp>
      <p:sp>
        <p:nvSpPr>
          <p:cNvPr id="14" name="Text 12"/>
          <p:cNvSpPr/>
          <p:nvPr/>
        </p:nvSpPr>
        <p:spPr>
          <a:xfrm>
            <a:off x="7772400" y="2971800"/>
            <a:ext cx="1097280" cy="457200"/>
          </a:xfrm>
          <a:prstGeom prst="rect">
            <a:avLst/>
          </a:prstGeom>
          <a:noFill/>
          <a:ln/>
        </p:spPr>
        <p:txBody>
          <a:bodyPr wrap="square" rtlCol="0" anchor="ctr"/>
          <a:lstStyle/>
          <a:p>
            <a:pPr marL="0" indent="0" algn="r">
              <a:buNone/>
            </a:pPr>
            <a:r>
              <a:rPr lang="en-US" sz="2800" b="1" dirty="0">
                <a:solidFill>
                  <a:srgbClr val="94A3B8"/>
                </a:solidFill>
                <a:latin typeface="Arial" pitchFamily="34" charset="0"/>
                <a:ea typeface="Arial" pitchFamily="34" charset="-122"/>
                <a:cs typeface="Arial" pitchFamily="34" charset="-120"/>
              </a:rPr>
              <a:t>4</a:t>
            </a:r>
            <a:endParaRPr lang="en-US" sz="2800" dirty="0"/>
          </a:p>
        </p:txBody>
      </p:sp>
      <p:sp>
        <p:nvSpPr>
          <p:cNvPr id="15" name="Text 13"/>
          <p:cNvSpPr/>
          <p:nvPr/>
        </p:nvSpPr>
        <p:spPr>
          <a:xfrm>
            <a:off x="8961120" y="3017520"/>
            <a:ext cx="2743200" cy="411480"/>
          </a:xfrm>
          <a:prstGeom prst="rect">
            <a:avLst/>
          </a:prstGeom>
          <a:noFill/>
          <a:ln/>
        </p:spPr>
        <p:txBody>
          <a:bodyPr wrap="square" rtlCol="0" anchor="ctr"/>
          <a:lstStyle/>
          <a:p>
            <a:pPr marL="0" indent="0">
              <a:buNone/>
            </a:pPr>
            <a:r>
              <a:rPr lang="en-US" sz="1300" dirty="0">
                <a:solidFill>
                  <a:srgbClr val="94A3B8"/>
                </a:solidFill>
                <a:latin typeface="Arial" pitchFamily="34" charset="0"/>
                <a:ea typeface="Arial" pitchFamily="34" charset="-122"/>
                <a:cs typeface="Arial" pitchFamily="34" charset="-120"/>
              </a:rPr>
              <a:t>Disabled</a:t>
            </a:r>
            <a:endParaRPr lang="en-US" sz="1300" dirty="0"/>
          </a:p>
        </p:txBody>
      </p:sp>
      <p:sp>
        <p:nvSpPr>
          <p:cNvPr id="16" name="Text 14"/>
          <p:cNvSpPr/>
          <p:nvPr/>
        </p:nvSpPr>
        <p:spPr>
          <a:xfrm>
            <a:off x="457200" y="3840480"/>
            <a:ext cx="109728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Findings Breakdown</a:t>
            </a:r>
            <a:endParaRPr lang="en-US" sz="1400" dirty="0"/>
          </a:p>
        </p:txBody>
      </p:sp>
      <p:sp>
        <p:nvSpPr>
          <p:cNvPr id="17" name="Text 15"/>
          <p:cNvSpPr/>
          <p:nvPr/>
        </p:nvSpPr>
        <p:spPr>
          <a:xfrm>
            <a:off x="731520" y="4389120"/>
            <a:ext cx="1371600" cy="548640"/>
          </a:xfrm>
          <a:prstGeom prst="rect">
            <a:avLst/>
          </a:prstGeom>
          <a:noFill/>
          <a:ln/>
        </p:spPr>
        <p:txBody>
          <a:bodyPr wrap="square" rtlCol="0" anchor="ctr"/>
          <a:lstStyle/>
          <a:p>
            <a:pPr marL="0" indent="0" algn="ctr">
              <a:buNone/>
            </a:pPr>
            <a:r>
              <a:rPr lang="en-US" sz="3200" b="1" dirty="0">
                <a:solidFill>
                  <a:srgbClr val="EF4444"/>
                </a:solidFill>
                <a:latin typeface="Arial" pitchFamily="34" charset="0"/>
                <a:ea typeface="Arial" pitchFamily="34" charset="-122"/>
                <a:cs typeface="Arial" pitchFamily="34" charset="-120"/>
              </a:rPr>
              <a:t>0</a:t>
            </a:r>
            <a:endParaRPr lang="en-US" sz="3200" dirty="0"/>
          </a:p>
        </p:txBody>
      </p:sp>
      <p:sp>
        <p:nvSpPr>
          <p:cNvPr id="18" name="Text 16"/>
          <p:cNvSpPr/>
          <p:nvPr/>
        </p:nvSpPr>
        <p:spPr>
          <a:xfrm>
            <a:off x="731520" y="493776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Critical</a:t>
            </a:r>
            <a:endParaRPr lang="en-US" sz="1100" dirty="0"/>
          </a:p>
        </p:txBody>
      </p:sp>
      <p:sp>
        <p:nvSpPr>
          <p:cNvPr id="19" name="Text 17"/>
          <p:cNvSpPr/>
          <p:nvPr/>
        </p:nvSpPr>
        <p:spPr>
          <a:xfrm>
            <a:off x="2834640" y="4389120"/>
            <a:ext cx="1371600" cy="548640"/>
          </a:xfrm>
          <a:prstGeom prst="rect">
            <a:avLst/>
          </a:prstGeom>
          <a:noFill/>
          <a:ln/>
        </p:spPr>
        <p:txBody>
          <a:bodyPr wrap="square" rtlCol="0" anchor="ctr"/>
          <a:lstStyle/>
          <a:p>
            <a:pPr marL="0" indent="0" algn="ctr">
              <a:buNone/>
            </a:pPr>
            <a:r>
              <a:rPr lang="en-US" sz="3200" b="1" dirty="0">
                <a:solidFill>
                  <a:srgbClr val="F97316"/>
                </a:solidFill>
                <a:latin typeface="Arial" pitchFamily="34" charset="0"/>
                <a:ea typeface="Arial" pitchFamily="34" charset="-122"/>
                <a:cs typeface="Arial" pitchFamily="34" charset="-120"/>
              </a:rPr>
              <a:t>7</a:t>
            </a:r>
            <a:endParaRPr lang="en-US" sz="3200" dirty="0"/>
          </a:p>
        </p:txBody>
      </p:sp>
      <p:sp>
        <p:nvSpPr>
          <p:cNvPr id="20" name="Text 18"/>
          <p:cNvSpPr/>
          <p:nvPr/>
        </p:nvSpPr>
        <p:spPr>
          <a:xfrm>
            <a:off x="2834640" y="493776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High</a:t>
            </a:r>
            <a:endParaRPr lang="en-US" sz="1100" dirty="0"/>
          </a:p>
        </p:txBody>
      </p:sp>
      <p:sp>
        <p:nvSpPr>
          <p:cNvPr id="21" name="Text 19"/>
          <p:cNvSpPr/>
          <p:nvPr/>
        </p:nvSpPr>
        <p:spPr>
          <a:xfrm>
            <a:off x="4937760" y="4389120"/>
            <a:ext cx="1371600" cy="548640"/>
          </a:xfrm>
          <a:prstGeom prst="rect">
            <a:avLst/>
          </a:prstGeom>
          <a:noFill/>
          <a:ln/>
        </p:spPr>
        <p:txBody>
          <a:bodyPr wrap="square" rtlCol="0" anchor="ctr"/>
          <a:lstStyle/>
          <a:p>
            <a:pPr marL="0" indent="0" algn="ctr">
              <a:buNone/>
            </a:pPr>
            <a:r>
              <a:rPr lang="en-US" sz="3200" b="1" dirty="0">
                <a:solidFill>
                  <a:srgbClr val="EAB308"/>
                </a:solidFill>
                <a:latin typeface="Arial" pitchFamily="34" charset="0"/>
                <a:ea typeface="Arial" pitchFamily="34" charset="-122"/>
                <a:cs typeface="Arial" pitchFamily="34" charset="-120"/>
              </a:rPr>
              <a:t>9</a:t>
            </a:r>
            <a:endParaRPr lang="en-US" sz="3200" dirty="0"/>
          </a:p>
        </p:txBody>
      </p:sp>
      <p:sp>
        <p:nvSpPr>
          <p:cNvPr id="22" name="Text 20"/>
          <p:cNvSpPr/>
          <p:nvPr/>
        </p:nvSpPr>
        <p:spPr>
          <a:xfrm>
            <a:off x="4937760" y="493776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Medium</a:t>
            </a:r>
            <a:endParaRPr lang="en-US" sz="1100" dirty="0"/>
          </a:p>
        </p:txBody>
      </p:sp>
      <p:sp>
        <p:nvSpPr>
          <p:cNvPr id="23" name="Text 21"/>
          <p:cNvSpPr/>
          <p:nvPr/>
        </p:nvSpPr>
        <p:spPr>
          <a:xfrm>
            <a:off x="7040880" y="4389120"/>
            <a:ext cx="1371600" cy="548640"/>
          </a:xfrm>
          <a:prstGeom prst="rect">
            <a:avLst/>
          </a:prstGeom>
          <a:noFill/>
          <a:ln/>
        </p:spPr>
        <p:txBody>
          <a:bodyPr wrap="square" rtlCol="0" anchor="ctr"/>
          <a:lstStyle/>
          <a:p>
            <a:pPr marL="0" indent="0" algn="ctr">
              <a:buNone/>
            </a:pPr>
            <a:r>
              <a:rPr lang="en-US" sz="3200" b="1" dirty="0">
                <a:solidFill>
                  <a:srgbClr val="94A3B8"/>
                </a:solidFill>
                <a:latin typeface="Arial" pitchFamily="34" charset="0"/>
                <a:ea typeface="Arial" pitchFamily="34" charset="-122"/>
                <a:cs typeface="Arial" pitchFamily="34" charset="-120"/>
              </a:rPr>
              <a:t>11</a:t>
            </a:r>
            <a:endParaRPr lang="en-US" sz="3200" dirty="0"/>
          </a:p>
        </p:txBody>
      </p:sp>
      <p:sp>
        <p:nvSpPr>
          <p:cNvPr id="24" name="Text 22"/>
          <p:cNvSpPr/>
          <p:nvPr/>
        </p:nvSpPr>
        <p:spPr>
          <a:xfrm>
            <a:off x="7040880" y="493776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Low</a:t>
            </a:r>
            <a:endParaRPr lang="en-US" sz="1100" dirty="0"/>
          </a:p>
        </p:txBody>
      </p:sp>
      <p:sp>
        <p:nvSpPr>
          <p:cNvPr id="25" name="Text 23"/>
          <p:cNvSpPr/>
          <p:nvPr/>
        </p:nvSpPr>
        <p:spPr>
          <a:xfrm>
            <a:off x="9144000" y="4389120"/>
            <a:ext cx="1371600" cy="548640"/>
          </a:xfrm>
          <a:prstGeom prst="rect">
            <a:avLst/>
          </a:prstGeom>
          <a:noFill/>
          <a:ln/>
        </p:spPr>
        <p:txBody>
          <a:bodyPr wrap="square" rtlCol="0" anchor="ctr"/>
          <a:lstStyle/>
          <a:p>
            <a:pPr marL="0" indent="0" algn="ctr">
              <a:buNone/>
            </a:pPr>
            <a:r>
              <a:rPr lang="en-US" sz="3200" b="1" dirty="0">
                <a:solidFill>
                  <a:srgbClr val="94A3B8"/>
                </a:solidFill>
                <a:latin typeface="Arial" pitchFamily="34" charset="0"/>
                <a:ea typeface="Arial" pitchFamily="34" charset="-122"/>
                <a:cs typeface="Arial" pitchFamily="34" charset="-120"/>
              </a:rPr>
              <a:t>85</a:t>
            </a:r>
            <a:endParaRPr lang="en-US" sz="3200" dirty="0"/>
          </a:p>
        </p:txBody>
      </p:sp>
      <p:sp>
        <p:nvSpPr>
          <p:cNvPr id="26" name="Text 24"/>
          <p:cNvSpPr/>
          <p:nvPr/>
        </p:nvSpPr>
        <p:spPr>
          <a:xfrm>
            <a:off x="9144000" y="493776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Info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SPO - GRANT - Require - ManagedDevice</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0b65a60c-0fda-4d05-a14e-c5d79cd64f69</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mobileAppsAndDesktopClients</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compliant device OR 💻 Require hybrid Azure AD joined</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mobileAppsAndDesktopClients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Grant controls use "OR" between equivalent-strength controls — accepted pattern</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[SharePoint admin center]Use app-enforced Restrictions for browser access - 2026/05/15</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Disabled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d8e77080-5724-4d2c-acca-bfe5f86c0ef2</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browser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BLOCK - Device Code Auth Flow</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8b42eda3-6917-4ab4-afb2-e32c37520f9b</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 - AllAdmins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f893f39f-2ab3-4f1e-a8e1-9a2b9589a9ce</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46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Roles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Global Admin, Global Reader, Privileged Role Admin, Privileged Auth Admin, Security Admin, Security Operator, Security Reader, Compliance Admin, Compliance Data Admin, Cloud App Security Admin, Authentication Admin, Authentication Policy Admin, Conditional Access Admin, Hybrid Identity Admin, Identity Governance Admin, External Identity Provider Admin, Application Admin, Cloud App Admin, Application Developer, User Admin, Groups Admin, Password Admin, Helpdesk Admin, License Admin, Guest Inviter, Intun Admin, Cloud Device Admin, Windows365 Admin, Windows Update Deployment Admin, Exchange Admin, Share Point Admin, Teams Admin, Fabric Admin, Dynamics365 Admin, Power Platform Admin, Directory Readers, Directory Writers, Domain Name Admin, Billing Admin, Reports Reader, Global Secure Access Admin, Network Admin, Lifecycle Workflows Admin, Agent ID Administrator, AI Reader, Entra Backup Administrator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BLOCK - Legacy Authentication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9eab445f-7f21-479a-85c9-29769512067e</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exchangeActiveSync, other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exchangeActiveSync, other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BLOCK – Countries not Allowed</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f3f4ad30-86a8-4e29-8ec9-4efab1a459f5</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Exclude locations: IAC - AllowedCountries,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CA - TravelingUsers,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BLOCK – Countries not Allowed - NoExclusions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1eaf943a-abad-4c77-b101-0c5342fc1044</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IAC - Blocked Countries,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 - AllUsers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a66e8427-e5e7-4072-bfd1-7e99db7a7dc4</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 (2 exclusions)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GlobalExclusions,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Microsoft Intune Enrollment, Microsoft Rights Management Services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2 app(s) excluded from this policy</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Broad policy with exclusions — review for gaps</a:t>
            </a:r>
            <a:endParaRPr lang="en-US" sz="900" dirty="0"/>
          </a:p>
        </p:txBody>
      </p:sp>
      <p:sp>
        <p:nvSpPr>
          <p:cNvPr id="30" name="Text 27"/>
          <p:cNvSpPr/>
          <p:nvPr/>
        </p:nvSpPr>
        <p:spPr>
          <a:xfrm>
            <a:off x="457200" y="58521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BLOCK - Authentication Transfer</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fa005ec2-4940-49c8-b4e7-b58e66ef481c</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GlobalExclusions,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BLOCK - Unsupported Device Platforms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9e21fa64-8d9a-4e62-81da-9abce8859a0c</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Platforms: all (exclude: android, iOS, windows, macOS),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BreakGlass - TrustedLocations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1588fdc7-f34a-468e-8023-4d788ef5d226</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Exclude locations: IAC - Trusted Locations (IP),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Breakglass01</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Breakglass02</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MFA-Passkey - UserRegistration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30a1edce-e832-456b-b2c5-4b1098d3a9b3</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actions: urn:user:registerdevice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Platforms: all,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MFA-AUTH-Passkey</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MFA-Passkeys - ADM-Users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a53c4c2b-b577-4d88-b64d-36b92f8f3ca0</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ADM-Users-Dynamic</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SESSION - Windows - TokenProtection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8bb25c6a-ed35-4556-bed4-b3aaa14e192b</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 365 Exchange Online, Office 365 SharePoint Online, Windows 365, Azure Virtual Desktop, Microsoft Teams Services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Platforms: windows, Client apps: mobileAppsAndDesktopClients, Device filter: device.systemLabels -contains "CloudPC" -and device.trustType -eq "AzureAD"</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 365 Exchange Online, Office 365 SharePoint Online, Windows 365, Azure Virtual Desktop, Microsoft Teams Services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mobileAppsAndDesktopClients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windows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BLOCK – Service Accounts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99eabebd-877c-4800-aa15-d389b8767760</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2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Exclude locations: IAC - Trusted Locations (IP),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ServiceAccounts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GlobalExclusions,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Roles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On Premises Directory Sync Account</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SESSION – Admin Persistence (4 Hours)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04b969aa-3e98-4e0f-8b32-2319b199b56a</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46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browser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4 hours, Persistent browser: never</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Roles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Global Admin, Global Reader, Privileged Role Admin, Privileged Auth Admin, Security Admin, Security Operator, Security Reader, Compliance Admin, Compliance Data Admin, Cloud App Security Admin, Authentication Admin, Authentication Policy Admin, Conditional Access Admin, Hybrid Identity Admin, Identity Governance Admin, External Identity Provider Admin, Application Admin, Cloud App Admin, Application Developer, User Admin, Groups Admin, Password Admin, Helpdesk Admin, License Admin, Guest Inviter, Intun Admin, Cloud Device Admin, Windows365 Admin, Windows Update Deployment Admin, Exchange Admin, Share Point Admin, Teams Admin, Fabric Admin, Dynamics365 Admin, Power Platform Admin, Directory Readers, Directory Writers, Domain Name Admin, Billing Admin, Reports Reader, Global Secure Access Admin, Network Admin, Lifecycle Workflows Admin, Agent ID Administrator, AI Reader, Entra Backup Administrator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SESSION – All Users Persistence (9-12 Hours)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ea9459a9-91b6-4d2b-b929-03781ac81d54</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browser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12 hours, Persistent browser: never</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BLOCK - SPO -NonTrustedLocations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1f960ec9-885f-4032-a6b2-a5c559279274</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(5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GlobalExclusions, AVD-ExternalUsers,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F97316"/>
                </a:solidFill>
                <a:latin typeface="Arial" pitchFamily="34" charset="0"/>
                <a:ea typeface="Arial" pitchFamily="34" charset="-122"/>
                <a:cs typeface="Arial" pitchFamily="34" charset="-120"/>
              </a:rPr>
              <a:t>[HIGH]  Policy uses "All trusted locations" but 4 location(s) are NOT trusted</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GRANT - inforcer - RequireMFA</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1d3a7677-a723-4c56-924c-2e1dc63df105</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Inforcer Integration</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Inforcer Integration</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BLOCK – AVD - Exclude - AllowedAVDUsers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9bc2ad69-4aed-4242-807d-788446196b8b</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(5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AVD-ExternalUsers, AVDUsers, 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BLOCK – AVD - NonTrustedLocations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b13dd393-f644-45c8-81bf-aa7f4032ebd3</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AVD-ExternalUsers, 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Windows 365, Azure Virtual Desktop</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F97316"/>
                </a:solidFill>
                <a:latin typeface="Arial" pitchFamily="34" charset="0"/>
                <a:ea typeface="Arial" pitchFamily="34" charset="-122"/>
                <a:cs typeface="Arial" pitchFamily="34" charset="-120"/>
              </a:rPr>
              <a:t>[HIGH]  Policy uses "All trusted locations" but 4 location(s) are NOT trusted</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AGENT - BLOCK - AgentRisk</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0ab1380f-3863-40a5-ab97-24250e1cf44e</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None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AGENT - BLOCK - NonTrustedAgents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1d8beea4-2ea1-4758-8e22-d6310a60220a</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None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INTUNE - GRANT - RequireCompliantDevice</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660ab461-0de5-4b00-baea-ec7325280f60</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compliant device OR 💻 Require hybrid Azure AD joined</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DeviceExclusions, 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6"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(4)</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Grant controls use "OR" between equivalent-strength controls — accepted pattern</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marL="0" indent="0">
              <a:buNone/>
            </a:pPr>
            <a:r>
              <a:rPr lang="en-US" sz="900" dirty="0">
                <a:solidFill>
                  <a:srgbClr val="F97316"/>
                </a:solidFill>
                <a:latin typeface="Arial" pitchFamily="34" charset="0"/>
                <a:ea typeface="Arial" pitchFamily="34" charset="-122"/>
                <a:cs typeface="Arial" pitchFamily="34" charset="-120"/>
              </a:rPr>
              <a:t>[HIGH]  Policy uses "All trusted locations" but 4 location(s) are NOT trusted</a:t>
            </a:r>
            <a:endParaRPr lang="en-US" sz="900" dirty="0"/>
          </a:p>
        </p:txBody>
      </p:sp>
      <p:sp>
        <p:nvSpPr>
          <p:cNvPr id="31" name="Text 28"/>
          <p:cNvSpPr/>
          <p:nvPr/>
        </p:nvSpPr>
        <p:spPr>
          <a:xfrm>
            <a:off x="457200" y="58978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INTUNE – GRANT – Device Registration from trusted location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aeb49474-5250-4b65-8b0a-56c47127ee0f</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actions: urn:user:registerdevice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Multifactor authentication</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DeviceExclusions, 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6"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ZTCA - GLOBAL – BLOCK – Admin Portal</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fafaa50c-0b61-4ac6-a589-f9a1120b2f9e</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Azure Resource Manager, Microsoft Purview Platform, My Staff, MicrosoftAdminPortals, Graph Explorer</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GlobalExclusions,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 Resource Manager, Microsoft Purview Platform, My Staff, MicrosoftAdminPortals, Graph Explorer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Windows Azure Active Directory, Microsoft App Access Panel, AADReporting, My Profile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(4)</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F97316"/>
                </a:solidFill>
                <a:latin typeface="Arial" pitchFamily="34" charset="0"/>
                <a:ea typeface="Arial" pitchFamily="34" charset="-122"/>
                <a:cs typeface="Arial" pitchFamily="34" charset="-120"/>
              </a:rPr>
              <a:t>[HIGH]  4 app(s) excluded from this policy (1 high-risk)</a:t>
            </a:r>
            <a:endParaRPr lang="en-US" sz="900" dirty="0"/>
          </a:p>
        </p:txBody>
      </p:sp>
      <p:sp>
        <p:nvSpPr>
          <p:cNvPr id="26"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8521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1 guest/external user type(s) excluded</a:t>
            </a:r>
            <a:endParaRPr lang="en-US" sz="900" dirty="0"/>
          </a:p>
        </p:txBody>
      </p:sp>
      <p:sp>
        <p:nvSpPr>
          <p:cNvPr id="31" name="Text 28"/>
          <p:cNvSpPr/>
          <p:nvPr/>
        </p:nvSpPr>
        <p:spPr>
          <a:xfrm>
            <a:off x="457200" y="61722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ZTCA - INTUNE - BLOCK - AllApps - ExcludeTrustedLocation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2dd84b12-7900-40f0-b192-027c20aaa83f</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Exclude locations: All trusted locations, Client apps: all, Device filter: device.isCompliant -eq True -or device.trustType -eq "ServerAD" -or device.trustType -eq "Workplace"</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(4)</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F97316"/>
                </a:solidFill>
                <a:latin typeface="Arial" pitchFamily="34" charset="0"/>
                <a:ea typeface="Arial" pitchFamily="34" charset="-122"/>
                <a:cs typeface="Arial" pitchFamily="34" charset="-120"/>
              </a:rPr>
              <a:t>[HIGH]  Policy uses "All trusted locations" but 4 location(s) are NOT trusted</a:t>
            </a:r>
            <a:endParaRPr lang="en-US" sz="900" dirty="0"/>
          </a:p>
        </p:txBody>
      </p:sp>
      <p:sp>
        <p:nvSpPr>
          <p:cNvPr id="26" name="Text 27"/>
          <p:cNvSpPr/>
          <p:nvPr/>
        </p:nvSpPr>
        <p:spPr>
          <a:xfrm>
            <a:off x="457200" y="557784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1 guest/external user type(s) excluded</a:t>
            </a:r>
            <a:endParaRPr lang="en-US" sz="900" dirty="0"/>
          </a:p>
        </p:txBody>
      </p:sp>
      <p:sp>
        <p:nvSpPr>
          <p:cNvPr id="31" name="Text 28"/>
          <p:cNvSpPr/>
          <p:nvPr/>
        </p:nvSpPr>
        <p:spPr>
          <a:xfrm>
            <a:off x="457200" y="58978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ZTCA - GLOBAL - BLOCK - AllApps -Exclude CA-Global</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8417ec17-17f5-44c1-b937-85b1917f5d9e</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Azure-Breakglass, CA - GlobalExclusions,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SESSION - O365 - Timeoutsettings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c5133041-079f-45ec-b27a-20268546077f</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browser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GLOBAL - GRANT - High-Risk Sign-Ins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53a8df0b-4658-4835-ace2-100b5d287aac</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risk: high,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Sign-in Risk</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GLOBAL - GRANT - Medium-Risk Sign-Ins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180ab5a3-d3ae-4457-9ef1-e3c06f5dfbfc</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risk: medium,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Sign-in Risk</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GLOBAL - GRANT - EAM - High-Risk Users - Risk Remediation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bb6a814e-808a-467c-9475-06f89140ce99</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risk: high,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MFA AND riskRemediation</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13716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SG-Entra-AUG-MFA-AuthEAM</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User Risk</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GLOBAL - GRANT - Medium-Risk Users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7475b373-0544-4ee8-8827-cff35009136d</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risk: medium,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password change AND 🛡️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User Risk</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All guest/external user type(s) excluded</a:t>
            </a:r>
            <a:endParaRPr lang="en-US" sz="900" dirty="0"/>
          </a:p>
        </p:txBody>
      </p:sp>
      <p:sp>
        <p:nvSpPr>
          <p:cNvPr id="30" name="Text 27"/>
          <p:cNvSpPr/>
          <p:nvPr/>
        </p:nvSpPr>
        <p:spPr>
          <a:xfrm>
            <a:off x="457200" y="58521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GLOBAL - BLOCK - RiskyUsers - RegisterSecurityInfo</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768858bd-a5ad-47de-8acb-5e815cde0857</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actions: urn:user:registersecurityinfo</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risk: high, medium,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User Risk</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high, medium</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Targets "Register security info" — will apply to WHfB / Platform SSO registration (July 2026)</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APP - SESSION - PIM - Reauthentication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a6b3b754-9079-48f0-abb2-9e79b2f41095</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 - B2B-Guest</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f25f94e0-98b6-41be-b9d6-68cb781004a4</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0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Guest users required to satisfy Phishing-resistant MFA — may need Cross-Tenant Access Settings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 - Mixed-Guests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e0fabad3-bd0f-42e4-a901-51ef7ab8889c</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0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Guest users required to satisfy MFA — may need Cross-Tenant Access Settings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WORKLOAD - BLOCK - EntraConnectIDSync - ExcludeEntraConnectIP</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Disabled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f950dbf3-6b9e-4d05-b8d6-a32c430ae97f</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Locations: All locations,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None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WORKLOAD - BLOCK - RiskyServicePrincipals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Disabled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f93c5ed2-ae8b-460e-aa07-6529528d6ac5</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risk: high, medium,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None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Sign-in Risk</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high, medium</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SESSION - SPO - AllowLimitedAccess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cb165779-c0ba-4daf-bafb-202c6a5d418f</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browser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 365 SharePoint Online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browser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INTUNE - GRANT - MAM - Protection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a380813c-e529-4ff2-abe6-ad39871347ab</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(4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 (2 exclusions)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Platforms: android, iOS, Client apps: mobileAppsAndDesktopClients</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app protection policy</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CA - TeamsRoom, CA - Mobile - DeviceExclusions,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 Credential Configuration Endpoint Service, WindowsDefenderATP</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mobileAppsAndDesktopClients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android, iOS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5"/>
                  </a:ext>
                </a:extLst>
              </a:tr>
            </a:tbl>
          </a:graphicData>
        </a:graphic>
      </p:graphicFrame>
      <p:sp>
        <p:nvSpPr>
          <p:cNvPr id="27" name="Text 24"/>
          <p:cNvSpPr/>
          <p:nvPr/>
        </p:nvSpPr>
        <p:spPr>
          <a:xfrm>
            <a:off x="457200" y="512064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548640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2 app(s) excluded from this policy</a:t>
            </a:r>
            <a:endParaRPr lang="en-US" sz="900" dirty="0"/>
          </a:p>
        </p:txBody>
      </p:sp>
      <p:sp>
        <p:nvSpPr>
          <p:cNvPr id="29" name="Text 26"/>
          <p:cNvSpPr/>
          <p:nvPr/>
        </p:nvSpPr>
        <p:spPr>
          <a:xfrm>
            <a:off x="457200" y="580644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Broad policy with exclusions — review for gaps</a:t>
            </a:r>
            <a:endParaRPr lang="en-US" sz="900" dirty="0"/>
          </a:p>
        </p:txBody>
      </p:sp>
      <p:sp>
        <p:nvSpPr>
          <p:cNvPr id="30" name="Text 27"/>
          <p:cNvSpPr/>
          <p:nvPr/>
        </p:nvSpPr>
        <p:spPr>
          <a:xfrm>
            <a:off x="457200" y="61264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 - RegisterSecurityInfo</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88afbedc-d07e-4173-b5fd-86768197ed6c</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actions: urn:user:registersecurityinfo</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49834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Targets "Register security info" — will apply to WHfB / Platform SSO registration (July 2026)</a:t>
            </a:r>
            <a:endParaRPr lang="en-US" sz="900" dirty="0"/>
          </a:p>
        </p:txBody>
      </p:sp>
      <p:sp>
        <p:nvSpPr>
          <p:cNvPr id="30" name="Text 27"/>
          <p:cNvSpPr/>
          <p:nvPr/>
        </p:nvSpPr>
        <p:spPr>
          <a:xfrm>
            <a:off x="457200" y="53035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INTUNE - SESSION - BlockFileDownloads-UnmanagedDevices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985c999b-973d-4e92-b372-2f5f3c9574ec</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 Device filter: device.isCompliant -eq True -or device.trustType -eq "ServerAD"</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Cloud App Security</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CA - DeviceExclusions,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SESSION - IntuneEnrollment - SIF - EveryTime</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e383b868-2408-4a44-9961-e1939456e827</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Microsoft Intune Enrollment</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Microsoft Intune Enrollment</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Baseline Security Mode: Block legacy authentication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a885c6b1-3ce7-4bcc-bc0d-34cda8ede44d</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exchangeActiveSync, other</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Jon Hope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exchangeActiveSync, other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Baseline Security Mode: Require phishing-resistant multifactor authentication for admins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b26c6d88-44f4-4863-91a6-0e7e072dfb62</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19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Phishing-resistant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Jon Hope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Roles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Global Admin, Security Admin, Share Point Admin, Exchange Admin, Conditional Access Admin, Helpdesk Admin, Billing Admin, User Admin, Authentication Admin, Application Admin, Cloud App Admin, Password Admin, Privileged Auth Admin, Privileged Role Admin, Compliance Admin, Compliance Data Admin, Intun Admin, Dynamics365 Admin, Power Platform Admin</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PhishResist - ProtectedActions-CA</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2977767b-9975-4b9e-bd87-ec9f4cea684d</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Phishing-resistant MFA</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MAM - Require - App Protection Policy for (Android/IOS)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94A3B8"/>
                </a:solidFill>
                <a:latin typeface="Arial" pitchFamily="34" charset="0"/>
                <a:ea typeface="Arial" pitchFamily="34" charset="-122"/>
                <a:cs typeface="Arial" pitchFamily="34" charset="-120"/>
              </a:rPr>
              <a:t>Disabled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026ae481-f720-48ed-ae23-907071c962e1</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 (2 exclusions)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Platforms: android, iOS, Client apps: mobileAppsAndDesktopClients</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Require app protection policy</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 - Entra - DUG - License - Teams Rooms, SG - Entra - AUG - Conditional Access - Emergency Access,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 Credential Configuration Endpoint Service, WindowsDefenderATP</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mobileAppsAndDesktopClients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Platforms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android, iOS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5"/>
                  </a:ext>
                </a:extLst>
              </a:tr>
            </a:tbl>
          </a:graphicData>
        </a:graphic>
      </p:graphicFrame>
      <p:sp>
        <p:nvSpPr>
          <p:cNvPr id="27" name="Text 24"/>
          <p:cNvSpPr/>
          <p:nvPr/>
        </p:nvSpPr>
        <p:spPr>
          <a:xfrm>
            <a:off x="457200" y="512064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48640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2 app(s) excluded from this policy</a:t>
            </a:r>
            <a:endParaRPr lang="en-US" sz="900" dirty="0"/>
          </a:p>
        </p:txBody>
      </p:sp>
      <p:sp>
        <p:nvSpPr>
          <p:cNvPr id="29" name="Text 26"/>
          <p:cNvSpPr/>
          <p:nvPr/>
        </p:nvSpPr>
        <p:spPr>
          <a:xfrm>
            <a:off x="457200" y="5806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GRANT - Azure - RequireMFA</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7a1e75dc-c8b2-4ab4-9138-37ee6b2b5955</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(3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Azure DevOps, Azure Resource Manager</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Inforcer - Authentication</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 - Entra - AUG - Conditional Access - Emergency Access, CA - Breakglass, 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Azure DevOps, Azure Resource Manager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inforcer - DEMO - SMS Retirement</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3d35c871-ad96-4314-a434-f5cc503269de</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SMS - Deprecation</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CATech - DEMO - Block365allowOutlook</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11b07b6b-0c3f-4877-a296-e60de8122d2b</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Severus Snape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 365 Exchange Online</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F97316"/>
                </a:solidFill>
                <a:latin typeface="Arial" pitchFamily="34" charset="0"/>
                <a:ea typeface="Arial" pitchFamily="34" charset="-122"/>
                <a:cs typeface="Arial" pitchFamily="34" charset="-120"/>
              </a:rPr>
              <a:t>[HIGH]  1 app(s) excluded from this policy (1 high-risk)</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30" name="Text 27"/>
          <p:cNvSpPr/>
          <p:nvPr/>
        </p:nvSpPr>
        <p:spPr>
          <a:xfrm>
            <a:off x="457200" y="58521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GLOBAL - BLOCK - O365 - ElevatedInsiderRisk</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fd7db5a8-c12f-4c64-9a87-f8aa6e237b64</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(3)</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EAB308"/>
                </a:solidFill>
                <a:latin typeface="Arial" pitchFamily="34" charset="0"/>
                <a:ea typeface="Arial" pitchFamily="34" charset="-122"/>
                <a:cs typeface="Arial" pitchFamily="34" charset="-120"/>
              </a:rPr>
              <a:t>[MEDIUM]  3 guest/external user type(s) excluded</a:t>
            </a:r>
            <a:endParaRPr lang="en-US" sz="900" dirty="0"/>
          </a:p>
        </p:txBody>
      </p:sp>
      <p:sp>
        <p:nvSpPr>
          <p:cNvPr id="30" name="Text 27"/>
          <p:cNvSpPr/>
          <p:nvPr/>
        </p:nvSpPr>
        <p:spPr>
          <a:xfrm>
            <a:off x="457200" y="55778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APP - SESSION - DFCA - Block - FileDownload</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21022e60-8c04-4437-a6f2-07ef836e4f93</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Cloud App Security</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Office365</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P2 - GLOBAL - GRANT - High-Risk Users - Risk Remediation</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544cd9ef-5e37-4568-9ad8-b8e151be1814</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(2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User risk: high, 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riskRemediation AND 🛡️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Sign-in frequency: null null</a:t>
            </a:r>
            <a:endParaRPr lang="en-US" sz="900" dirty="0"/>
          </a:p>
        </p:txBody>
      </p:sp>
      <p:sp>
        <p:nvSpPr>
          <p:cNvPr id="25" name="Text 23"/>
          <p:cNvSpPr/>
          <p:nvPr/>
        </p:nvSpPr>
        <p:spPr>
          <a:xfrm>
            <a:off x="457200" y="285496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13716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 SG-Entra-AUG-MFA-AuthEAM</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User Risk</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bl>
          </a:graphicData>
        </a:graphic>
      </p:graphicFrame>
      <p:sp>
        <p:nvSpPr>
          <p:cNvPr id="27" name="Text 24"/>
          <p:cNvSpPr/>
          <p:nvPr/>
        </p:nvSpPr>
        <p:spPr>
          <a:xfrm>
            <a:off x="457200" y="484632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521208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[LOW]  Broad policy with exclusions — review for gaps</a:t>
            </a:r>
            <a:endParaRPr lang="en-US" sz="900" dirty="0"/>
          </a:p>
        </p:txBody>
      </p:sp>
      <p:sp>
        <p:nvSpPr>
          <p:cNvPr id="29" name="Text 26"/>
          <p:cNvSpPr/>
          <p:nvPr/>
        </p:nvSpPr>
        <p:spPr>
          <a:xfrm>
            <a:off x="457200" y="553212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CATech - DEMO - CSA - BLOCK - HighlySensitive</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22C55E"/>
                </a:solidFill>
                <a:latin typeface="Arial" pitchFamily="34" charset="0"/>
                <a:ea typeface="Arial" pitchFamily="34" charset="-122"/>
                <a:cs typeface="Arial" pitchFamily="34" charset="-120"/>
              </a:rPr>
              <a:t>Enabled</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8a255ca4-d5af-42b0-a6c3-756d657fceb6</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1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Hermione Granger</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IAC - GLOBAL - GRANT - MFA - WindowsAzureAD-BaselineScopes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ab659968-2e8a-4448-9710-d930aada3499</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users (1 exclusions)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Azure AD Graph (Legacy)</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Auth strength: Modern MFA + TAP</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Users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Windows Azure Active Directory</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27" name="Text 24"/>
          <p:cNvSpPr/>
          <p:nvPr/>
        </p:nvSpPr>
        <p:spPr>
          <a:xfrm>
            <a:off x="457200" y="457200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(2)</a:t>
            </a:r>
            <a:endParaRPr lang="en-US" sz="1200" dirty="0"/>
          </a:p>
        </p:txBody>
      </p:sp>
      <p:sp>
        <p:nvSpPr>
          <p:cNvPr id="28" name="Text 25"/>
          <p:cNvSpPr/>
          <p:nvPr/>
        </p:nvSpPr>
        <p:spPr>
          <a:xfrm>
            <a:off x="457200" y="493776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
        <p:nvSpPr>
          <p:cNvPr id="29" name="Text 26"/>
          <p:cNvSpPr/>
          <p:nvPr/>
        </p:nvSpPr>
        <p:spPr>
          <a:xfrm>
            <a:off x="457200" y="525780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Break-glass group excluded ✓</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E293B"/>
          </a:solidFill>
          <a:ln/>
        </p:spPr>
        <p:txBody>
          <a:bodyPr/>
          <a:lstStyle/>
          <a:p>
            <a:endParaRPr lang="en-US"/>
          </a:p>
        </p:txBody>
      </p:sp>
      <p:sp>
        <p:nvSpPr>
          <p:cNvPr id="3" name="Text 1"/>
          <p:cNvSpPr/>
          <p:nvPr/>
        </p:nvSpPr>
        <p:spPr>
          <a:xfrm>
            <a:off x="457200" y="137160"/>
            <a:ext cx="9144000" cy="3200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CATech - Guest - Block - UnapprovedApps</a:t>
            </a:r>
            <a:endParaRPr lang="en-US" sz="1600" dirty="0"/>
          </a:p>
        </p:txBody>
      </p:sp>
      <p:sp>
        <p:nvSpPr>
          <p:cNvPr id="4" name="Text 2"/>
          <p:cNvSpPr/>
          <p:nvPr/>
        </p:nvSpPr>
        <p:spPr>
          <a:xfrm>
            <a:off x="457200" y="457200"/>
            <a:ext cx="2743200" cy="274320"/>
          </a:xfrm>
          <a:prstGeom prst="rect">
            <a:avLst/>
          </a:prstGeom>
          <a:noFill/>
          <a:ln/>
        </p:spPr>
        <p:txBody>
          <a:bodyPr wrap="square" rtlCol="0" anchor="ctr"/>
          <a:lstStyle/>
          <a:p>
            <a:pPr marL="0" indent="0">
              <a:buNone/>
            </a:pPr>
            <a:r>
              <a:rPr lang="en-US" sz="1100" dirty="0">
                <a:solidFill>
                  <a:srgbClr val="EAB308"/>
                </a:solidFill>
                <a:latin typeface="Arial" pitchFamily="34" charset="0"/>
                <a:ea typeface="Arial" pitchFamily="34" charset="-122"/>
                <a:cs typeface="Arial" pitchFamily="34" charset="-120"/>
              </a:rPr>
              <a:t>Report-only</a:t>
            </a:r>
            <a:endParaRPr lang="en-US" sz="1100" dirty="0"/>
          </a:p>
        </p:txBody>
      </p:sp>
      <p:sp>
        <p:nvSpPr>
          <p:cNvPr id="5" name="Text 3"/>
          <p:cNvSpPr/>
          <p:nvPr/>
        </p:nvSpPr>
        <p:spPr>
          <a:xfrm>
            <a:off x="4572000" y="457200"/>
            <a:ext cx="6858000" cy="274320"/>
          </a:xfrm>
          <a:prstGeom prst="rect">
            <a:avLst/>
          </a:prstGeom>
          <a:noFill/>
          <a:ln/>
        </p:spPr>
        <p:txBody>
          <a:bodyPr wrap="square" rtlCol="0" anchor="ctr"/>
          <a:lstStyle/>
          <a:p>
            <a:pPr marL="0" indent="0" algn="r">
              <a:buNone/>
            </a:pPr>
            <a:r>
              <a:rPr lang="en-US" sz="900" dirty="0">
                <a:solidFill>
                  <a:srgbClr val="94A3B8"/>
                </a:solidFill>
                <a:latin typeface="Arial" pitchFamily="34" charset="0"/>
                <a:ea typeface="Arial" pitchFamily="34" charset="-122"/>
                <a:cs typeface="Arial" pitchFamily="34" charset="-120"/>
              </a:rPr>
              <a:t>ID: 3d5ff39b-8336-4797-bc26-361dcaa6c1ca</a:t>
            </a:r>
            <a:endParaRPr lang="en-US" sz="900" dirty="0"/>
          </a:p>
        </p:txBody>
      </p:sp>
      <p:sp>
        <p:nvSpPr>
          <p:cNvPr id="6" name="Shape 4"/>
          <p:cNvSpPr/>
          <p:nvPr/>
        </p:nvSpPr>
        <p:spPr>
          <a:xfrm>
            <a:off x="457200" y="1188720"/>
            <a:ext cx="2011680" cy="1463040"/>
          </a:xfrm>
          <a:prstGeom prst="rect">
            <a:avLst/>
          </a:prstGeom>
          <a:solidFill>
            <a:srgbClr val="1E293B"/>
          </a:solidFill>
          <a:ln/>
        </p:spPr>
        <p:txBody>
          <a:bodyPr/>
          <a:lstStyle/>
          <a:p>
            <a:endParaRPr lang="en-US"/>
          </a:p>
        </p:txBody>
      </p:sp>
      <p:sp>
        <p:nvSpPr>
          <p:cNvPr id="7" name="Text 5"/>
          <p:cNvSpPr/>
          <p:nvPr/>
        </p:nvSpPr>
        <p:spPr>
          <a:xfrm>
            <a:off x="59436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Users</a:t>
            </a:r>
            <a:endParaRPr lang="en-US" sz="1000" dirty="0"/>
          </a:p>
        </p:txBody>
      </p:sp>
      <p:sp>
        <p:nvSpPr>
          <p:cNvPr id="8" name="Text 6"/>
          <p:cNvSpPr/>
          <p:nvPr/>
        </p:nvSpPr>
        <p:spPr>
          <a:xfrm>
            <a:off x="59436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0 specific user/group/role targets</a:t>
            </a:r>
            <a:endParaRPr lang="en-US" sz="900" dirty="0"/>
          </a:p>
        </p:txBody>
      </p:sp>
      <p:sp>
        <p:nvSpPr>
          <p:cNvPr id="9" name="Text 7"/>
          <p:cNvSpPr/>
          <p:nvPr/>
        </p:nvSpPr>
        <p:spPr>
          <a:xfrm>
            <a:off x="246888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606040" y="1188720"/>
            <a:ext cx="2011680" cy="1463040"/>
          </a:xfrm>
          <a:prstGeom prst="rect">
            <a:avLst/>
          </a:prstGeom>
          <a:solidFill>
            <a:srgbClr val="1E293B"/>
          </a:solidFill>
          <a:ln/>
        </p:spPr>
        <p:txBody>
          <a:bodyPr/>
          <a:lstStyle/>
          <a:p>
            <a:endParaRPr lang="en-US"/>
          </a:p>
        </p:txBody>
      </p:sp>
      <p:sp>
        <p:nvSpPr>
          <p:cNvPr id="11" name="Text 9"/>
          <p:cNvSpPr/>
          <p:nvPr/>
        </p:nvSpPr>
        <p:spPr>
          <a:xfrm>
            <a:off x="274320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Apps</a:t>
            </a:r>
            <a:endParaRPr lang="en-US" sz="1000" dirty="0"/>
          </a:p>
        </p:txBody>
      </p:sp>
      <p:sp>
        <p:nvSpPr>
          <p:cNvPr id="12" name="Text 10"/>
          <p:cNvSpPr/>
          <p:nvPr/>
        </p:nvSpPr>
        <p:spPr>
          <a:xfrm>
            <a:off x="274320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All cloud apps</a:t>
            </a:r>
            <a:endParaRPr lang="en-US" sz="900" dirty="0"/>
          </a:p>
        </p:txBody>
      </p:sp>
      <p:sp>
        <p:nvSpPr>
          <p:cNvPr id="13" name="Text 11"/>
          <p:cNvSpPr/>
          <p:nvPr/>
        </p:nvSpPr>
        <p:spPr>
          <a:xfrm>
            <a:off x="461772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754880" y="1188720"/>
            <a:ext cx="2011680" cy="1463040"/>
          </a:xfrm>
          <a:prstGeom prst="rect">
            <a:avLst/>
          </a:prstGeom>
          <a:solidFill>
            <a:srgbClr val="1E293B"/>
          </a:solidFill>
          <a:ln/>
        </p:spPr>
        <p:txBody>
          <a:bodyPr/>
          <a:lstStyle/>
          <a:p>
            <a:endParaRPr lang="en-US"/>
          </a:p>
        </p:txBody>
      </p:sp>
      <p:sp>
        <p:nvSpPr>
          <p:cNvPr id="15" name="Text 13"/>
          <p:cNvSpPr/>
          <p:nvPr/>
        </p:nvSpPr>
        <p:spPr>
          <a:xfrm>
            <a:off x="489204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Conditions</a:t>
            </a:r>
            <a:endParaRPr lang="en-US" sz="1000" dirty="0"/>
          </a:p>
        </p:txBody>
      </p:sp>
      <p:sp>
        <p:nvSpPr>
          <p:cNvPr id="16" name="Text 14"/>
          <p:cNvSpPr/>
          <p:nvPr/>
        </p:nvSpPr>
        <p:spPr>
          <a:xfrm>
            <a:off x="489204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Client apps: all</a:t>
            </a:r>
            <a:endParaRPr lang="en-US" sz="900" dirty="0"/>
          </a:p>
        </p:txBody>
      </p:sp>
      <p:sp>
        <p:nvSpPr>
          <p:cNvPr id="17" name="Text 15"/>
          <p:cNvSpPr/>
          <p:nvPr/>
        </p:nvSpPr>
        <p:spPr>
          <a:xfrm>
            <a:off x="676656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6903720" y="1188720"/>
            <a:ext cx="2011680" cy="1463040"/>
          </a:xfrm>
          <a:prstGeom prst="rect">
            <a:avLst/>
          </a:prstGeom>
          <a:solidFill>
            <a:srgbClr val="1E293B"/>
          </a:solidFill>
          <a:ln/>
        </p:spPr>
        <p:txBody>
          <a:bodyPr/>
          <a:lstStyle/>
          <a:p>
            <a:endParaRPr lang="en-US"/>
          </a:p>
        </p:txBody>
      </p:sp>
      <p:sp>
        <p:nvSpPr>
          <p:cNvPr id="19" name="Text 17"/>
          <p:cNvSpPr/>
          <p:nvPr/>
        </p:nvSpPr>
        <p:spPr>
          <a:xfrm>
            <a:off x="704088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Grant Controls</a:t>
            </a:r>
            <a:endParaRPr lang="en-US" sz="1000" dirty="0"/>
          </a:p>
        </p:txBody>
      </p:sp>
      <p:sp>
        <p:nvSpPr>
          <p:cNvPr id="20" name="Text 18"/>
          <p:cNvSpPr/>
          <p:nvPr/>
        </p:nvSpPr>
        <p:spPr>
          <a:xfrm>
            <a:off x="704088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 Block access</a:t>
            </a:r>
            <a:endParaRPr lang="en-US" sz="900" dirty="0"/>
          </a:p>
        </p:txBody>
      </p:sp>
      <p:sp>
        <p:nvSpPr>
          <p:cNvPr id="21" name="Text 19"/>
          <p:cNvSpPr/>
          <p:nvPr/>
        </p:nvSpPr>
        <p:spPr>
          <a:xfrm>
            <a:off x="8915400" y="1645920"/>
            <a:ext cx="137160" cy="457200"/>
          </a:xfrm>
          <a:prstGeom prst="rect">
            <a:avLst/>
          </a:prstGeom>
          <a:noFill/>
          <a:ln/>
        </p:spPr>
        <p:txBody>
          <a:bodyPr wrap="square" rtlCol="0" anchor="ctr"/>
          <a:lstStyle/>
          <a:p>
            <a:pPr marL="0" indent="0" algn="ctr">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9052560" y="1188720"/>
            <a:ext cx="2011680" cy="1463040"/>
          </a:xfrm>
          <a:prstGeom prst="rect">
            <a:avLst/>
          </a:prstGeom>
          <a:solidFill>
            <a:srgbClr val="1E293B"/>
          </a:solidFill>
          <a:ln/>
        </p:spPr>
        <p:txBody>
          <a:bodyPr/>
          <a:lstStyle/>
          <a:p>
            <a:endParaRPr lang="en-US"/>
          </a:p>
        </p:txBody>
      </p:sp>
      <p:sp>
        <p:nvSpPr>
          <p:cNvPr id="23" name="Text 21"/>
          <p:cNvSpPr/>
          <p:nvPr/>
        </p:nvSpPr>
        <p:spPr>
          <a:xfrm>
            <a:off x="9189720" y="1280160"/>
            <a:ext cx="1737360" cy="274320"/>
          </a:xfrm>
          <a:prstGeom prst="rect">
            <a:avLst/>
          </a:prstGeom>
          <a:noFill/>
          <a:ln/>
        </p:spPr>
        <p:txBody>
          <a:bodyPr wrap="square" rtlCol="0" anchor="ctr"/>
          <a:lstStyle/>
          <a:p>
            <a:pPr marL="0" indent="0">
              <a:buNone/>
            </a:pPr>
            <a:r>
              <a:rPr lang="en-US" sz="1000" b="1" dirty="0">
                <a:solidFill>
                  <a:srgbClr val="3B82F6"/>
                </a:solidFill>
                <a:latin typeface="Arial" pitchFamily="34" charset="0"/>
                <a:ea typeface="Arial" pitchFamily="34" charset="-122"/>
                <a:cs typeface="Arial" pitchFamily="34" charset="-120"/>
              </a:rPr>
              <a:t>Session</a:t>
            </a:r>
            <a:endParaRPr lang="en-US" sz="1000" dirty="0"/>
          </a:p>
        </p:txBody>
      </p:sp>
      <p:sp>
        <p:nvSpPr>
          <p:cNvPr id="24" name="Text 22"/>
          <p:cNvSpPr/>
          <p:nvPr/>
        </p:nvSpPr>
        <p:spPr>
          <a:xfrm>
            <a:off x="9189720" y="1600200"/>
            <a:ext cx="1737360" cy="914400"/>
          </a:xfrm>
          <a:prstGeom prst="rect">
            <a:avLst/>
          </a:prstGeom>
          <a:noFill/>
          <a:ln/>
        </p:spPr>
        <p:txBody>
          <a:bodyPr wrap="square" rtlCol="0" anchor="t"/>
          <a:lstStyle/>
          <a:p>
            <a:pPr marL="0" indent="0">
              <a:buNone/>
            </a:pPr>
            <a:r>
              <a:rPr lang="en-US" sz="900" dirty="0">
                <a:solidFill>
                  <a:srgbClr val="F1F5F9"/>
                </a:solidFill>
                <a:latin typeface="Arial" pitchFamily="34" charset="0"/>
                <a:ea typeface="Arial" pitchFamily="34" charset="-122"/>
                <a:cs typeface="Arial" pitchFamily="34" charset="-120"/>
              </a:rPr>
              <a:t>—</a:t>
            </a:r>
            <a:endParaRPr lang="en-US" sz="900" dirty="0"/>
          </a:p>
        </p:txBody>
      </p:sp>
      <p:sp>
        <p:nvSpPr>
          <p:cNvPr id="25" name="Text 23"/>
          <p:cNvSpPr/>
          <p:nvPr/>
        </p:nvSpPr>
        <p:spPr>
          <a:xfrm>
            <a:off x="457200" y="29260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Condition Details</a:t>
            </a:r>
            <a:endParaRPr lang="en-US" sz="1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0515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Exclude Groups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SG-Entra-AUG-CAP-BreakglassAccounts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Include Apps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94A3B8"/>
                          </a:solidFill>
                          <a:latin typeface="Arial" pitchFamily="34" charset="0"/>
                          <a:ea typeface="Arial" pitchFamily="34" charset="-122"/>
                          <a:cs typeface="Arial" pitchFamily="34" charset="-120"/>
                        </a:rPr>
                        <a:t>Client App Types</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bl>
          </a:graphicData>
        </a:graphic>
      </p:graphicFrame>
      <p:sp>
        <p:nvSpPr>
          <p:cNvPr id="27" name="Text 24"/>
          <p:cNvSpPr/>
          <p:nvPr/>
        </p:nvSpPr>
        <p:spPr>
          <a:xfrm>
            <a:off x="457200" y="4297680"/>
            <a:ext cx="109728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Findings (1)</a:t>
            </a:r>
            <a:endParaRPr lang="en-US" sz="1200" dirty="0"/>
          </a:p>
        </p:txBody>
      </p:sp>
      <p:sp>
        <p:nvSpPr>
          <p:cNvPr id="28" name="Text 25"/>
          <p:cNvSpPr/>
          <p:nvPr/>
        </p:nvSpPr>
        <p:spPr>
          <a:xfrm>
            <a:off x="457200" y="4663440"/>
            <a:ext cx="10515600" cy="274320"/>
          </a:xfrm>
          <a:prstGeom prst="rect">
            <a:avLst/>
          </a:prstGeom>
          <a:noFill/>
          <a:ln/>
        </p:spPr>
        <p:txBody>
          <a:bodyPr wrap="square" rtlCol="0" anchor="ctr"/>
          <a:lstStyle/>
          <a:p>
            <a:pPr marL="0" indent="0">
              <a:buNone/>
            </a:pPr>
            <a:r>
              <a:rPr lang="en-US" sz="900" dirty="0">
                <a:solidFill>
                  <a:srgbClr val="94A3B8"/>
                </a:solidFill>
                <a:latin typeface="Arial" pitchFamily="34" charset="0"/>
                <a:ea typeface="Arial" pitchFamily="34" charset="-122"/>
                <a:cs typeface="Arial" pitchFamily="34" charset="-120"/>
              </a:rPr>
              <a:t>[INFO]  Policy is in report-only mode</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Zero Trust Scorecard</a:t>
            </a:r>
            <a:endParaRPr lang="en-US" sz="2400" dirty="0"/>
          </a:p>
        </p:txBody>
      </p:sp>
      <p:sp>
        <p:nvSpPr>
          <p:cNvPr id="3" name="Text 1"/>
          <p:cNvSpPr/>
          <p:nvPr/>
        </p:nvSpPr>
        <p:spPr>
          <a:xfrm>
            <a:off x="457200" y="868680"/>
            <a:ext cx="10972800" cy="320040"/>
          </a:xfrm>
          <a:prstGeom prst="rect">
            <a:avLst/>
          </a:prstGeom>
          <a:noFill/>
          <a:ln/>
        </p:spPr>
        <p:txBody>
          <a:bodyPr wrap="square" rtlCol="0" anchor="ctr"/>
          <a:lstStyle/>
          <a:p>
            <a:pPr marL="0" indent="0">
              <a:buNone/>
            </a:pPr>
            <a:r>
              <a:rPr lang="en-US" sz="1200" dirty="0">
                <a:solidFill>
                  <a:srgbClr val="94A3B8"/>
                </a:solidFill>
                <a:latin typeface="Arial" pitchFamily="34" charset="0"/>
                <a:ea typeface="Arial" pitchFamily="34" charset="-122"/>
                <a:cs typeface="Arial" pitchFamily="34" charset="-120"/>
              </a:rPr>
              <a:t>Overall: 85/100  •  Verify Explicitly · Use Least Privilege · Assume Breach</a:t>
            </a:r>
            <a:endParaRPr lang="en-US" sz="1200" dirty="0"/>
          </a:p>
        </p:txBody>
      </p:sp>
      <p:sp>
        <p:nvSpPr>
          <p:cNvPr id="4" name="Shape 2"/>
          <p:cNvSpPr/>
          <p:nvPr/>
        </p:nvSpPr>
        <p:spPr>
          <a:xfrm>
            <a:off x="457200" y="1463040"/>
            <a:ext cx="3749040" cy="4846320"/>
          </a:xfrm>
          <a:prstGeom prst="roundRect">
            <a:avLst>
              <a:gd name="adj" fmla="val 2439"/>
            </a:avLst>
          </a:prstGeom>
          <a:solidFill>
            <a:srgbClr val="1E293B"/>
          </a:solidFill>
          <a:ln w="6350">
            <a:solidFill>
              <a:srgbClr val="94A3B8"/>
            </a:solidFill>
            <a:prstDash val="solid"/>
          </a:ln>
        </p:spPr>
        <p:txBody>
          <a:bodyPr/>
          <a:lstStyle/>
          <a:p>
            <a:endParaRPr lang="en-US"/>
          </a:p>
        </p:txBody>
      </p:sp>
      <p:sp>
        <p:nvSpPr>
          <p:cNvPr id="5" name="Text 3"/>
          <p:cNvSpPr/>
          <p:nvPr/>
        </p:nvSpPr>
        <p:spPr>
          <a:xfrm>
            <a:off x="640080" y="1600200"/>
            <a:ext cx="338328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Verify Explicitly</a:t>
            </a:r>
            <a:endParaRPr lang="en-US" sz="1400" dirty="0"/>
          </a:p>
        </p:txBody>
      </p:sp>
      <p:sp>
        <p:nvSpPr>
          <p:cNvPr id="6" name="Text 4"/>
          <p:cNvSpPr/>
          <p:nvPr/>
        </p:nvSpPr>
        <p:spPr>
          <a:xfrm>
            <a:off x="640080" y="2011680"/>
            <a:ext cx="3383280" cy="822960"/>
          </a:xfrm>
          <a:prstGeom prst="rect">
            <a:avLst/>
          </a:prstGeom>
          <a:noFill/>
          <a:ln/>
        </p:spPr>
        <p:txBody>
          <a:bodyPr wrap="square" rtlCol="0" anchor="ctr"/>
          <a:lstStyle/>
          <a:p>
            <a:pPr marL="0" indent="0">
              <a:buNone/>
            </a:pPr>
            <a:r>
              <a:rPr lang="en-US" sz="4800" b="1" dirty="0">
                <a:solidFill>
                  <a:srgbClr val="EAB308"/>
                </a:solidFill>
                <a:latin typeface="Arial" pitchFamily="34" charset="0"/>
                <a:ea typeface="Arial" pitchFamily="34" charset="-122"/>
                <a:cs typeface="Arial" pitchFamily="34" charset="-120"/>
              </a:rPr>
              <a:t>69</a:t>
            </a:r>
            <a:endParaRPr lang="en-US" sz="4800" dirty="0"/>
          </a:p>
        </p:txBody>
      </p:sp>
      <p:sp>
        <p:nvSpPr>
          <p:cNvPr id="7" name="Text 5"/>
          <p:cNvSpPr/>
          <p:nvPr/>
        </p:nvSpPr>
        <p:spPr>
          <a:xfrm>
            <a:off x="640080" y="2880360"/>
            <a:ext cx="3383280" cy="274320"/>
          </a:xfrm>
          <a:prstGeom prst="rect">
            <a:avLst/>
          </a:prstGeom>
          <a:noFill/>
          <a:ln/>
        </p:spPr>
        <p:txBody>
          <a:bodyPr wrap="square" rtlCol="0" anchor="ctr"/>
          <a:lstStyle/>
          <a:p>
            <a:pPr marL="0" indent="0">
              <a:buNone/>
            </a:pPr>
            <a:r>
              <a:rPr lang="en-US" sz="1000" dirty="0">
                <a:solidFill>
                  <a:srgbClr val="94A3B8"/>
                </a:solidFill>
                <a:latin typeface="Arial" pitchFamily="34" charset="0"/>
                <a:ea typeface="Arial" pitchFamily="34" charset="-122"/>
                <a:cs typeface="Arial" pitchFamily="34" charset="-120"/>
              </a:rPr>
              <a:t>/ 100</a:t>
            </a:r>
            <a:endParaRPr lang="en-US" sz="1000" dirty="0"/>
          </a:p>
        </p:txBody>
      </p:sp>
      <p:sp>
        <p:nvSpPr>
          <p:cNvPr id="8" name="Text 6"/>
          <p:cNvSpPr/>
          <p:nvPr/>
        </p:nvSpPr>
        <p:spPr>
          <a:xfrm>
            <a:off x="640080" y="338328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MFA on enabled policies  </a:t>
            </a:r>
            <a:r>
              <a:rPr lang="en-US" sz="1000" b="1" dirty="0">
                <a:solidFill>
                  <a:srgbClr val="EF4444"/>
                </a:solidFill>
                <a:latin typeface="Arial" pitchFamily="34" charset="0"/>
                <a:ea typeface="Arial" pitchFamily="34" charset="-122"/>
                <a:cs typeface="Arial" pitchFamily="34" charset="-120"/>
              </a:rPr>
              <a:t>44</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12 of 27 enabled policies require MFA.</a:t>
            </a:r>
            <a:endParaRPr lang="en-US" sz="1000" dirty="0"/>
          </a:p>
        </p:txBody>
      </p:sp>
      <p:sp>
        <p:nvSpPr>
          <p:cNvPr id="9" name="Text 7"/>
          <p:cNvSpPr/>
          <p:nvPr/>
        </p:nvSpPr>
        <p:spPr>
          <a:xfrm>
            <a:off x="640080" y="393192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Phishing-resistant MFA in use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8 policies use a phishing-resistant auth strength (e.g. "Modern MFA + TAP").</a:t>
            </a:r>
            <a:endParaRPr lang="en-US" sz="1000" dirty="0"/>
          </a:p>
        </p:txBody>
      </p:sp>
      <p:sp>
        <p:nvSpPr>
          <p:cNvPr id="10" name="Text 8"/>
          <p:cNvSpPr/>
          <p:nvPr/>
        </p:nvSpPr>
        <p:spPr>
          <a:xfrm>
            <a:off x="640080" y="448056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Compliant device coverage  </a:t>
            </a:r>
            <a:r>
              <a:rPr lang="en-US" sz="1000" b="1" dirty="0">
                <a:solidFill>
                  <a:srgbClr val="EF4444"/>
                </a:solidFill>
                <a:latin typeface="Arial" pitchFamily="34" charset="0"/>
                <a:ea typeface="Arial" pitchFamily="34" charset="-122"/>
                <a:cs typeface="Arial" pitchFamily="34" charset="-120"/>
              </a:rPr>
              <a:t>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0 of 27 enabled policies require compliant device.</a:t>
            </a:r>
            <a:endParaRPr lang="en-US" sz="1000" dirty="0"/>
          </a:p>
        </p:txBody>
      </p:sp>
      <p:sp>
        <p:nvSpPr>
          <p:cNvPr id="11" name="Text 9"/>
          <p:cNvSpPr/>
          <p:nvPr/>
        </p:nvSpPr>
        <p:spPr>
          <a:xfrm>
            <a:off x="640080" y="502920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Risk signals as conditions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6 policies consume sign-in or user risk signals.</a:t>
            </a:r>
            <a:endParaRPr lang="en-US" sz="1000" dirty="0"/>
          </a:p>
        </p:txBody>
      </p:sp>
      <p:sp>
        <p:nvSpPr>
          <p:cNvPr id="12" name="Text 10"/>
          <p:cNvSpPr/>
          <p:nvPr/>
        </p:nvSpPr>
        <p:spPr>
          <a:xfrm>
            <a:off x="640080" y="557784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Admins persona MFA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Admins persona MFA control: present.</a:t>
            </a:r>
            <a:endParaRPr lang="en-US" sz="1000" dirty="0"/>
          </a:p>
        </p:txBody>
      </p:sp>
      <p:sp>
        <p:nvSpPr>
          <p:cNvPr id="13" name="Shape 11"/>
          <p:cNvSpPr/>
          <p:nvPr/>
        </p:nvSpPr>
        <p:spPr>
          <a:xfrm>
            <a:off x="4434840" y="1463040"/>
            <a:ext cx="3749040" cy="4846320"/>
          </a:xfrm>
          <a:prstGeom prst="roundRect">
            <a:avLst>
              <a:gd name="adj" fmla="val 243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4617720" y="1600200"/>
            <a:ext cx="338328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Use Least Privilege</a:t>
            </a:r>
            <a:endParaRPr lang="en-US" sz="1400" dirty="0"/>
          </a:p>
        </p:txBody>
      </p:sp>
      <p:sp>
        <p:nvSpPr>
          <p:cNvPr id="15" name="Text 13"/>
          <p:cNvSpPr/>
          <p:nvPr/>
        </p:nvSpPr>
        <p:spPr>
          <a:xfrm>
            <a:off x="4617720" y="2011680"/>
            <a:ext cx="3383280" cy="822960"/>
          </a:xfrm>
          <a:prstGeom prst="rect">
            <a:avLst/>
          </a:prstGeom>
          <a:noFill/>
          <a:ln/>
        </p:spPr>
        <p:txBody>
          <a:bodyPr wrap="square" rtlCol="0" anchor="ctr"/>
          <a:lstStyle/>
          <a:p>
            <a:pPr marL="0" indent="0">
              <a:buNone/>
            </a:pPr>
            <a:r>
              <a:rPr lang="en-US" sz="4800" b="1" dirty="0">
                <a:solidFill>
                  <a:srgbClr val="22C55E"/>
                </a:solidFill>
                <a:latin typeface="Arial" pitchFamily="34" charset="0"/>
                <a:ea typeface="Arial" pitchFamily="34" charset="-122"/>
                <a:cs typeface="Arial" pitchFamily="34" charset="-120"/>
              </a:rPr>
              <a:t>95</a:t>
            </a:r>
            <a:endParaRPr lang="en-US" sz="4800" dirty="0"/>
          </a:p>
        </p:txBody>
      </p:sp>
      <p:sp>
        <p:nvSpPr>
          <p:cNvPr id="16" name="Text 14"/>
          <p:cNvSpPr/>
          <p:nvPr/>
        </p:nvSpPr>
        <p:spPr>
          <a:xfrm>
            <a:off x="4617720" y="2880360"/>
            <a:ext cx="3383280" cy="274320"/>
          </a:xfrm>
          <a:prstGeom prst="rect">
            <a:avLst/>
          </a:prstGeom>
          <a:noFill/>
          <a:ln/>
        </p:spPr>
        <p:txBody>
          <a:bodyPr wrap="square" rtlCol="0" anchor="ctr"/>
          <a:lstStyle/>
          <a:p>
            <a:pPr marL="0" indent="0">
              <a:buNone/>
            </a:pPr>
            <a:r>
              <a:rPr lang="en-US" sz="1000" dirty="0">
                <a:solidFill>
                  <a:srgbClr val="94A3B8"/>
                </a:solidFill>
                <a:latin typeface="Arial" pitchFamily="34" charset="0"/>
                <a:ea typeface="Arial" pitchFamily="34" charset="-122"/>
                <a:cs typeface="Arial" pitchFamily="34" charset="-120"/>
              </a:rPr>
              <a:t>/ 100</a:t>
            </a:r>
            <a:endParaRPr lang="en-US" sz="1000" dirty="0"/>
          </a:p>
        </p:txBody>
      </p:sp>
      <p:sp>
        <p:nvSpPr>
          <p:cNvPr id="17" name="Text 15"/>
          <p:cNvSpPr/>
          <p:nvPr/>
        </p:nvSpPr>
        <p:spPr>
          <a:xfrm>
            <a:off x="4617720" y="338328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Persona segmentation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7 segmented personas have assigned policies.</a:t>
            </a:r>
            <a:endParaRPr lang="en-US" sz="1000" dirty="0"/>
          </a:p>
        </p:txBody>
      </p:sp>
      <p:sp>
        <p:nvSpPr>
          <p:cNvPr id="18" name="Text 16"/>
          <p:cNvSpPr/>
          <p:nvPr/>
        </p:nvSpPr>
        <p:spPr>
          <a:xfrm>
            <a:off x="4617720" y="393192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Privileged role exclusions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No critical/high privileged-role exclusion findings.</a:t>
            </a:r>
            <a:endParaRPr lang="en-US" sz="1000" dirty="0"/>
          </a:p>
        </p:txBody>
      </p:sp>
      <p:sp>
        <p:nvSpPr>
          <p:cNvPr id="19" name="Text 17"/>
          <p:cNvSpPr/>
          <p:nvPr/>
        </p:nvSpPr>
        <p:spPr>
          <a:xfrm>
            <a:off x="4617720" y="448056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Scope discipline  </a:t>
            </a:r>
            <a:r>
              <a:rPr lang="en-US" sz="1000" b="1" dirty="0">
                <a:solidFill>
                  <a:srgbClr val="EAB308"/>
                </a:solidFill>
                <a:latin typeface="Arial" pitchFamily="34" charset="0"/>
                <a:ea typeface="Arial" pitchFamily="34" charset="-122"/>
                <a:cs typeface="Arial" pitchFamily="34" charset="-120"/>
              </a:rPr>
              <a:t>70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1 blanket policy with no enforced controls.</a:t>
            </a:r>
            <a:endParaRPr lang="en-US" sz="1000" dirty="0"/>
          </a:p>
        </p:txBody>
      </p:sp>
      <p:sp>
        <p:nvSpPr>
          <p:cNvPr id="20" name="Text 18"/>
          <p:cNvSpPr/>
          <p:nvPr/>
        </p:nvSpPr>
        <p:spPr>
          <a:xfrm>
            <a:off x="4617720" y="502920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Break-glass identified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Break-glass account detected and annotated across policies.</a:t>
            </a:r>
            <a:endParaRPr lang="en-US" sz="1000" dirty="0"/>
          </a:p>
        </p:txBody>
      </p:sp>
      <p:sp>
        <p:nvSpPr>
          <p:cNvPr id="21" name="Text 19"/>
          <p:cNvSpPr/>
          <p:nvPr/>
        </p:nvSpPr>
        <p:spPr>
          <a:xfrm>
            <a:off x="4617720" y="557784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FOCI token-sharing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No FOCI / token-sharing critical/high findings.</a:t>
            </a:r>
            <a:endParaRPr lang="en-US" sz="1000" dirty="0"/>
          </a:p>
        </p:txBody>
      </p:sp>
      <p:sp>
        <p:nvSpPr>
          <p:cNvPr id="22" name="Shape 20"/>
          <p:cNvSpPr/>
          <p:nvPr/>
        </p:nvSpPr>
        <p:spPr>
          <a:xfrm>
            <a:off x="8412480" y="1463040"/>
            <a:ext cx="3749040" cy="4846320"/>
          </a:xfrm>
          <a:prstGeom prst="roundRect">
            <a:avLst>
              <a:gd name="adj" fmla="val 2439"/>
            </a:avLst>
          </a:prstGeom>
          <a:solidFill>
            <a:srgbClr val="1E293B"/>
          </a:solidFill>
          <a:ln w="6350">
            <a:solidFill>
              <a:srgbClr val="94A3B8"/>
            </a:solidFill>
            <a:prstDash val="solid"/>
          </a:ln>
        </p:spPr>
        <p:txBody>
          <a:bodyPr/>
          <a:lstStyle/>
          <a:p>
            <a:endParaRPr lang="en-US"/>
          </a:p>
        </p:txBody>
      </p:sp>
      <p:sp>
        <p:nvSpPr>
          <p:cNvPr id="23" name="Text 21"/>
          <p:cNvSpPr/>
          <p:nvPr/>
        </p:nvSpPr>
        <p:spPr>
          <a:xfrm>
            <a:off x="8595360" y="1600200"/>
            <a:ext cx="338328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Assume Breach</a:t>
            </a:r>
            <a:endParaRPr lang="en-US" sz="1400" dirty="0"/>
          </a:p>
        </p:txBody>
      </p:sp>
      <p:sp>
        <p:nvSpPr>
          <p:cNvPr id="24" name="Text 22"/>
          <p:cNvSpPr/>
          <p:nvPr/>
        </p:nvSpPr>
        <p:spPr>
          <a:xfrm>
            <a:off x="8595360" y="2011680"/>
            <a:ext cx="3383280" cy="822960"/>
          </a:xfrm>
          <a:prstGeom prst="rect">
            <a:avLst/>
          </a:prstGeom>
          <a:noFill/>
          <a:ln/>
        </p:spPr>
        <p:txBody>
          <a:bodyPr wrap="square" rtlCol="0" anchor="ctr"/>
          <a:lstStyle/>
          <a:p>
            <a:pPr marL="0" indent="0">
              <a:buNone/>
            </a:pPr>
            <a:r>
              <a:rPr lang="en-US" sz="4800" b="1" dirty="0">
                <a:solidFill>
                  <a:srgbClr val="22C55E"/>
                </a:solidFill>
                <a:latin typeface="Arial" pitchFamily="34" charset="0"/>
                <a:ea typeface="Arial" pitchFamily="34" charset="-122"/>
                <a:cs typeface="Arial" pitchFamily="34" charset="-120"/>
              </a:rPr>
              <a:t>91</a:t>
            </a:r>
            <a:endParaRPr lang="en-US" sz="4800" dirty="0"/>
          </a:p>
        </p:txBody>
      </p:sp>
      <p:sp>
        <p:nvSpPr>
          <p:cNvPr id="25" name="Text 23"/>
          <p:cNvSpPr/>
          <p:nvPr/>
        </p:nvSpPr>
        <p:spPr>
          <a:xfrm>
            <a:off x="8595360" y="2880360"/>
            <a:ext cx="3383280" cy="274320"/>
          </a:xfrm>
          <a:prstGeom prst="rect">
            <a:avLst/>
          </a:prstGeom>
          <a:noFill/>
          <a:ln/>
        </p:spPr>
        <p:txBody>
          <a:bodyPr wrap="square" rtlCol="0" anchor="ctr"/>
          <a:lstStyle/>
          <a:p>
            <a:pPr marL="0" indent="0">
              <a:buNone/>
            </a:pPr>
            <a:r>
              <a:rPr lang="en-US" sz="1000" dirty="0">
                <a:solidFill>
                  <a:srgbClr val="94A3B8"/>
                </a:solidFill>
                <a:latin typeface="Arial" pitchFamily="34" charset="0"/>
                <a:ea typeface="Arial" pitchFamily="34" charset="-122"/>
                <a:cs typeface="Arial" pitchFamily="34" charset="-120"/>
              </a:rPr>
              <a:t>/ 100</a:t>
            </a:r>
            <a:endParaRPr lang="en-US" sz="1000" dirty="0"/>
          </a:p>
        </p:txBody>
      </p:sp>
      <p:sp>
        <p:nvSpPr>
          <p:cNvPr id="26" name="Text 24"/>
          <p:cNvSpPr/>
          <p:nvPr/>
        </p:nvSpPr>
        <p:spPr>
          <a:xfrm>
            <a:off x="8595360" y="338328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Legacy authentication blocked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Global persona has an enforced legacy-auth block policy.</a:t>
            </a:r>
            <a:endParaRPr lang="en-US" sz="1000" dirty="0"/>
          </a:p>
        </p:txBody>
      </p:sp>
      <p:sp>
        <p:nvSpPr>
          <p:cNvPr id="27" name="Text 25"/>
          <p:cNvSpPr/>
          <p:nvPr/>
        </p:nvSpPr>
        <p:spPr>
          <a:xfrm>
            <a:off x="8595360" y="393192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Sign-in risk policies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2 policy uses sign-in risk levels.</a:t>
            </a:r>
            <a:endParaRPr lang="en-US" sz="1000" dirty="0"/>
          </a:p>
        </p:txBody>
      </p:sp>
      <p:sp>
        <p:nvSpPr>
          <p:cNvPr id="28" name="Text 26"/>
          <p:cNvSpPr/>
          <p:nvPr/>
        </p:nvSpPr>
        <p:spPr>
          <a:xfrm>
            <a:off x="8595360" y="448056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User risk policies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4 policy uses user risk levels.</a:t>
            </a:r>
            <a:endParaRPr lang="en-US" sz="1000" dirty="0"/>
          </a:p>
        </p:txBody>
      </p:sp>
      <p:sp>
        <p:nvSpPr>
          <p:cNvPr id="29" name="Text 27"/>
          <p:cNvSpPr/>
          <p:nvPr/>
        </p:nvSpPr>
        <p:spPr>
          <a:xfrm>
            <a:off x="8595360" y="502920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Session controls  </a:t>
            </a:r>
            <a:r>
              <a:rPr lang="en-US" sz="1000" b="1" dirty="0">
                <a:solidFill>
                  <a:srgbClr val="22C55E"/>
                </a:solidFill>
                <a:latin typeface="Arial" pitchFamily="34" charset="0"/>
                <a:ea typeface="Arial" pitchFamily="34" charset="-122"/>
                <a:cs typeface="Arial" pitchFamily="34" charset="-120"/>
              </a:rPr>
              <a:t>100</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7 policies enforce session controls.</a:t>
            </a:r>
            <a:endParaRPr lang="en-US" sz="1000" dirty="0"/>
          </a:p>
        </p:txBody>
      </p:sp>
      <p:sp>
        <p:nvSpPr>
          <p:cNvPr id="30" name="Text 28"/>
          <p:cNvSpPr/>
          <p:nvPr/>
        </p:nvSpPr>
        <p:spPr>
          <a:xfrm>
            <a:off x="8595360" y="5577840"/>
            <a:ext cx="3383280" cy="502920"/>
          </a:xfrm>
          <a:prstGeom prst="rect">
            <a:avLst/>
          </a:prstGeom>
          <a:noFill/>
          <a:ln/>
        </p:spPr>
        <p:txBody>
          <a:bodyPr wrap="square" rtlCol="0" anchor="ctr"/>
          <a:lstStyle/>
          <a:p>
            <a:pPr marL="0" indent="0">
              <a:buNone/>
            </a:pPr>
            <a:r>
              <a:rPr lang="en-US" sz="1000" b="1" dirty="0">
                <a:solidFill>
                  <a:srgbClr val="F1F5F9"/>
                </a:solidFill>
                <a:latin typeface="Arial" pitchFamily="34" charset="0"/>
                <a:ea typeface="Arial" pitchFamily="34" charset="-122"/>
                <a:cs typeface="Arial" pitchFamily="34" charset="-120"/>
              </a:rPr>
              <a:t>Critical/high findings backlog  </a:t>
            </a:r>
            <a:r>
              <a:rPr lang="en-US" sz="1000" b="1" dirty="0">
                <a:solidFill>
                  <a:srgbClr val="EAB308"/>
                </a:solidFill>
                <a:latin typeface="Arial" pitchFamily="34" charset="0"/>
                <a:ea typeface="Arial" pitchFamily="34" charset="-122"/>
                <a:cs typeface="Arial" pitchFamily="34" charset="-120"/>
              </a:rPr>
              <a:t>65</a:t>
            </a:r>
            <a:endParaRPr lang="en-US" sz="1000" dirty="0"/>
          </a:p>
          <a:p>
            <a:pPr marL="0" indent="0">
              <a:buNone/>
            </a:pPr>
            <a:r>
              <a:rPr lang="en-US" sz="800" dirty="0">
                <a:solidFill>
                  <a:srgbClr val="94A3B8"/>
                </a:solidFill>
                <a:latin typeface="Arial" pitchFamily="34" charset="0"/>
                <a:ea typeface="Arial" pitchFamily="34" charset="-122"/>
                <a:cs typeface="Arial" pitchFamily="34" charset="-120"/>
              </a:rPr>
              <a:t>7 open critical/high findings.</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Persona × Control Coverage</a:t>
            </a:r>
            <a:endParaRPr lang="en-US" sz="2400" dirty="0"/>
          </a:p>
        </p:txBody>
      </p:sp>
      <p:sp>
        <p:nvSpPr>
          <p:cNvPr id="3" name="Text 1"/>
          <p:cNvSpPr/>
          <p:nvPr/>
        </p:nvSpPr>
        <p:spPr>
          <a:xfrm>
            <a:off x="457200" y="868680"/>
            <a:ext cx="10972800" cy="320040"/>
          </a:xfrm>
          <a:prstGeom prst="rect">
            <a:avLst/>
          </a:prstGeom>
          <a:noFill/>
          <a:ln/>
        </p:spPr>
        <p:txBody>
          <a:bodyPr wrap="square" rtlCol="0" anchor="ctr"/>
          <a:lstStyle/>
          <a:p>
            <a:pPr marL="0" indent="0">
              <a:buNone/>
            </a:pPr>
            <a:r>
              <a:rPr lang="en-US" sz="1200" dirty="0">
                <a:solidFill>
                  <a:srgbClr val="94A3B8"/>
                </a:solidFill>
                <a:latin typeface="Arial" pitchFamily="34" charset="0"/>
                <a:ea typeface="Arial" pitchFamily="34" charset="-122"/>
                <a:cs typeface="Arial" pitchFamily="34" charset="-120"/>
              </a:rPr>
              <a:t>Overall coverage: 85/100  •  19.5/23 expected controls implemented</a:t>
            </a:r>
            <a:endParaRPr lang="en-US" sz="12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097280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0">
                <a:tc>
                  <a:txBody>
                    <a:bodyPr/>
                    <a:lstStyle/>
                    <a:p>
                      <a:pPr marL="0" indent="0">
                        <a:buNone/>
                      </a:pPr>
                      <a:r>
                        <a:rPr lang="en-US" sz="1100" b="1" dirty="0">
                          <a:solidFill>
                            <a:srgbClr val="FFFFFF"/>
                          </a:solidFill>
                          <a:latin typeface="Arial" pitchFamily="34" charset="0"/>
                          <a:ea typeface="Arial" pitchFamily="34" charset="-122"/>
                          <a:cs typeface="Arial" pitchFamily="34" charset="-120"/>
                        </a:rPr>
                        <a:t>Persona</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Policies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Score</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Present</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Partial</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Missing</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Global</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45</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22C55E"/>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Admins (Privileged Roles)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44</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22C55E"/>
                          </a:solidFill>
                          <a:latin typeface="Arial" pitchFamily="34" charset="0"/>
                          <a:ea typeface="Arial" pitchFamily="34" charset="-122"/>
                          <a:cs typeface="Arial" pitchFamily="34" charset="-120"/>
                        </a:rPr>
                        <a:t>92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Internals (Employees)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22C55E"/>
                          </a:solidFill>
                          <a:latin typeface="Arial" pitchFamily="34" charset="0"/>
                          <a:ea typeface="Arial" pitchFamily="34" charset="-122"/>
                          <a:cs typeface="Arial" pitchFamily="34" charset="-120"/>
                        </a:rPr>
                        <a:t>88</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Externals (B2B Guests)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22C55E"/>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Guest Admins (External Privileged)</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EAB308"/>
                          </a:solidFill>
                          <a:latin typeface="Arial" pitchFamily="34" charset="0"/>
                          <a:ea typeface="Arial" pitchFamily="34" charset="-122"/>
                          <a:cs typeface="Arial" pitchFamily="34" charset="-120"/>
                        </a:rPr>
                        <a:t>67</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Developers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22C55E"/>
                          </a:solidFill>
                          <a:latin typeface="Arial" pitchFamily="34" charset="0"/>
                          <a:ea typeface="Arial" pitchFamily="34" charset="-122"/>
                          <a:cs typeface="Arial" pitchFamily="34" charset="-120"/>
                        </a:rPr>
                        <a:t>83</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Corporate Service Accounts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22C55E"/>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Workload Identities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EAB308"/>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8"/>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Microsoft 365 Service Accounts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22C55E"/>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22C55E"/>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F4444"/>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Global</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Tenant-wide baseline policies that apply to all users (block legacy auth, country blocks, terms of use).</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22C55E"/>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100</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45</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21</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2</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0</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0</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Block legacy authentication</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Country / location block</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Shape 22"/>
          <p:cNvSpPr/>
          <p:nvPr/>
        </p:nvSpPr>
        <p:spPr>
          <a:xfrm>
            <a:off x="6217920" y="2880360"/>
            <a:ext cx="1783080" cy="640080"/>
          </a:xfrm>
          <a:prstGeom prst="roundRect">
            <a:avLst>
              <a:gd name="adj" fmla="val 8571"/>
            </a:avLst>
          </a:prstGeom>
          <a:solidFill>
            <a:srgbClr val="1E293B"/>
          </a:solidFill>
          <a:ln w="9525">
            <a:solidFill>
              <a:srgbClr val="EF4444"/>
            </a:solidFill>
            <a:prstDash val="solid"/>
          </a:ln>
        </p:spPr>
        <p:txBody>
          <a:bodyPr/>
          <a:lstStyle/>
          <a:p>
            <a:endParaRPr lang="en-US"/>
          </a:p>
        </p:txBody>
      </p:sp>
      <p:sp>
        <p:nvSpPr>
          <p:cNvPr id="26" name="Text 23"/>
          <p:cNvSpPr/>
          <p:nvPr/>
        </p:nvSpPr>
        <p:spPr>
          <a:xfrm>
            <a:off x="6217920" y="2898648"/>
            <a:ext cx="1783080" cy="365760"/>
          </a:xfrm>
          <a:prstGeom prst="rect">
            <a:avLst/>
          </a:prstGeom>
          <a:noFill/>
          <a:ln/>
        </p:spPr>
        <p:txBody>
          <a:bodyPr wrap="square" rtlCol="0" anchor="ctr"/>
          <a:lstStyle/>
          <a:p>
            <a:pPr marL="0" indent="0" algn="ctr">
              <a:buNone/>
            </a:pPr>
            <a:r>
              <a:rPr lang="en-US" sz="1800" b="1" dirty="0">
                <a:solidFill>
                  <a:srgbClr val="EF4444"/>
                </a:solidFill>
                <a:latin typeface="Arial" pitchFamily="34" charset="0"/>
                <a:ea typeface="Arial" pitchFamily="34" charset="-122"/>
                <a:cs typeface="Arial" pitchFamily="34" charset="-120"/>
              </a:rPr>
              <a:t>0</a:t>
            </a:r>
            <a:endParaRPr lang="en-US" sz="1800" dirty="0"/>
          </a:p>
        </p:txBody>
      </p:sp>
      <p:sp>
        <p:nvSpPr>
          <p:cNvPr id="27" name="Text 24"/>
          <p:cNvSpPr/>
          <p:nvPr/>
        </p:nvSpPr>
        <p:spPr>
          <a:xfrm>
            <a:off x="6217920"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8" name="Shape 25"/>
          <p:cNvSpPr/>
          <p:nvPr/>
        </p:nvSpPr>
        <p:spPr>
          <a:xfrm>
            <a:off x="8065008" y="2880360"/>
            <a:ext cx="1783080" cy="640080"/>
          </a:xfrm>
          <a:prstGeom prst="roundRect">
            <a:avLst>
              <a:gd name="adj" fmla="val 8571"/>
            </a:avLst>
          </a:prstGeom>
          <a:solidFill>
            <a:srgbClr val="1E293B"/>
          </a:solidFill>
          <a:ln w="9525">
            <a:solidFill>
              <a:srgbClr val="EAB308"/>
            </a:solidFill>
            <a:prstDash val="solid"/>
          </a:ln>
        </p:spPr>
        <p:txBody>
          <a:bodyPr/>
          <a:lstStyle/>
          <a:p>
            <a:endParaRPr lang="en-US"/>
          </a:p>
        </p:txBody>
      </p:sp>
      <p:sp>
        <p:nvSpPr>
          <p:cNvPr id="29" name="Text 26"/>
          <p:cNvSpPr/>
          <p:nvPr/>
        </p:nvSpPr>
        <p:spPr>
          <a:xfrm>
            <a:off x="8065008" y="2898648"/>
            <a:ext cx="1783080" cy="365760"/>
          </a:xfrm>
          <a:prstGeom prst="rect">
            <a:avLst/>
          </a:prstGeom>
          <a:noFill/>
          <a:ln/>
        </p:spPr>
        <p:txBody>
          <a:bodyPr wrap="square" rtlCol="0" anchor="ctr"/>
          <a:lstStyle/>
          <a:p>
            <a:pPr marL="0" indent="0" algn="ctr">
              <a:buNone/>
            </a:pPr>
            <a:r>
              <a:rPr lang="en-US" sz="1800" b="1" dirty="0">
                <a:solidFill>
                  <a:srgbClr val="EAB308"/>
                </a:solidFill>
                <a:latin typeface="Arial" pitchFamily="34" charset="0"/>
                <a:ea typeface="Arial" pitchFamily="34" charset="-122"/>
                <a:cs typeface="Arial" pitchFamily="34" charset="-120"/>
              </a:rPr>
              <a:t>22</a:t>
            </a:r>
            <a:endParaRPr lang="en-US" sz="1800" dirty="0"/>
          </a:p>
        </p:txBody>
      </p:sp>
      <p:sp>
        <p:nvSpPr>
          <p:cNvPr id="30" name="Text 27"/>
          <p:cNvSpPr/>
          <p:nvPr/>
        </p:nvSpPr>
        <p:spPr>
          <a:xfrm>
            <a:off x="8065008"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Drift</a:t>
            </a:r>
            <a:endParaRPr lang="en-US" sz="900" dirty="0"/>
          </a:p>
        </p:txBody>
      </p:sp>
      <p:sp>
        <p:nvSpPr>
          <p:cNvPr id="31" name="Shape 28"/>
          <p:cNvSpPr/>
          <p:nvPr/>
        </p:nvSpPr>
        <p:spPr>
          <a:xfrm>
            <a:off x="9912096" y="2880360"/>
            <a:ext cx="1783080" cy="640080"/>
          </a:xfrm>
          <a:prstGeom prst="roundRect">
            <a:avLst>
              <a:gd name="adj" fmla="val 8571"/>
            </a:avLst>
          </a:prstGeom>
          <a:solidFill>
            <a:srgbClr val="1E293B"/>
          </a:solidFill>
          <a:ln w="9525">
            <a:solidFill>
              <a:srgbClr val="A855F7"/>
            </a:solidFill>
            <a:prstDash val="solid"/>
          </a:ln>
        </p:spPr>
        <p:txBody>
          <a:bodyPr/>
          <a:lstStyle/>
          <a:p>
            <a:endParaRPr lang="en-US"/>
          </a:p>
        </p:txBody>
      </p:sp>
      <p:sp>
        <p:nvSpPr>
          <p:cNvPr id="32" name="Text 29"/>
          <p:cNvSpPr/>
          <p:nvPr/>
        </p:nvSpPr>
        <p:spPr>
          <a:xfrm>
            <a:off x="9912096" y="2898648"/>
            <a:ext cx="1783080" cy="365760"/>
          </a:xfrm>
          <a:prstGeom prst="rect">
            <a:avLst/>
          </a:prstGeom>
          <a:noFill/>
          <a:ln/>
        </p:spPr>
        <p:txBody>
          <a:bodyPr wrap="square" rtlCol="0" anchor="ctr"/>
          <a:lstStyle/>
          <a:p>
            <a:pPr marL="0" indent="0" algn="ctr">
              <a:buNone/>
            </a:pPr>
            <a:r>
              <a:rPr lang="en-US" sz="1800" b="1" dirty="0">
                <a:solidFill>
                  <a:srgbClr val="A855F7"/>
                </a:solidFill>
                <a:latin typeface="Arial" pitchFamily="34" charset="0"/>
                <a:ea typeface="Arial" pitchFamily="34" charset="-122"/>
                <a:cs typeface="Arial" pitchFamily="34" charset="-120"/>
              </a:rPr>
              <a:t>7</a:t>
            </a:r>
            <a:endParaRPr lang="en-US" sz="1800" dirty="0"/>
          </a:p>
        </p:txBody>
      </p:sp>
      <p:sp>
        <p:nvSpPr>
          <p:cNvPr id="33" name="Text 30"/>
          <p:cNvSpPr/>
          <p:nvPr/>
        </p:nvSpPr>
        <p:spPr>
          <a:xfrm>
            <a:off x="9912096"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Tenant-only</a:t>
            </a:r>
            <a:endParaRPr lang="en-US" sz="900" dirty="0"/>
          </a:p>
        </p:txBody>
      </p:sp>
      <p:graphicFrame>
        <p:nvGraphicFramePr>
          <p:cNvPr id="125" name="Table 1"/>
          <p:cNvGraphicFramePr>
            <a:graphicFrameLocks noGrp="1"/>
          </p:cNvGraphicFramePr>
          <p:nvPr>
            <p:extLst>
              <p:ext uri="{D42A27DB-BD31-4B8C-83A1-F6EECF244321}">
                <p14:modId xmlns:p14="http://schemas.microsoft.com/office/powerpoint/2010/main" val="1579011935"/>
              </p:ext>
            </p:extLst>
          </p:nvPr>
        </p:nvGraphicFramePr>
        <p:xfrm>
          <a:off x="6217920" y="3657600"/>
          <a:ext cx="5486400"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Kind</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Sev</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Entry</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F4444"/>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BLOCK - Authentication Transfer</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F4444"/>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BLOCK - Device Code Auth Flow</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F4444"/>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BLOCK - Unsupported Device Platforms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F4444"/>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GRANT - MFA - AllUsers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4"/>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F4444"/>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BLOCK - Legacy Authentication</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5"/>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F4444"/>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BLOCK – Countries not Allowed - NoExclusions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6"/>
                  </a:ext>
                </a:extLst>
              </a:tr>
            </a:tbl>
          </a:graphicData>
        </a:graphic>
      </p:graphicFrame>
      <p:sp>
        <p:nvSpPr>
          <p:cNvPr id="35" name="Text 31"/>
          <p:cNvSpPr/>
          <p:nvPr/>
        </p:nvSpPr>
        <p:spPr>
          <a:xfrm>
            <a:off x="6217920" y="6309360"/>
            <a:ext cx="5486400" cy="274320"/>
          </a:xfrm>
          <a:prstGeom prst="rect">
            <a:avLst/>
          </a:prstGeom>
          <a:noFill/>
          <a:ln/>
        </p:spPr>
        <p:txBody>
          <a:bodyPr wrap="square" rtlCol="0" anchor="ctr"/>
          <a:lstStyle/>
          <a:p>
            <a:pPr marL="0" indent="0">
              <a:buNone/>
            </a:pPr>
            <a:r>
              <a:rPr lang="en-US" sz="900" i="1" dirty="0">
                <a:solidFill>
                  <a:srgbClr val="94A3B8"/>
                </a:solidFill>
                <a:latin typeface="Arial" pitchFamily="34" charset="0"/>
                <a:ea typeface="Arial" pitchFamily="34" charset="-122"/>
                <a:cs typeface="Arial" pitchFamily="34" charset="-120"/>
              </a:rPr>
              <a:t>+ 23 more gaps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Admins (Privileged Roles)</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Privileged directory role holders. Should require phishing-resistant MFA, compliant device, and tight session controls.</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22C55E"/>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92</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44</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22</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5</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1</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0</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 Partial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compliant or hybrid-joined device</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multi-factor authentication</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Phishing-resistant MFA</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Sign-in risk based access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4"/>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User risk based access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5"/>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Sign-in frequency / session controls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6"/>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Shape 22"/>
          <p:cNvSpPr/>
          <p:nvPr/>
        </p:nvSpPr>
        <p:spPr>
          <a:xfrm>
            <a:off x="6217920" y="2880360"/>
            <a:ext cx="1783080" cy="640080"/>
          </a:xfrm>
          <a:prstGeom prst="roundRect">
            <a:avLst>
              <a:gd name="adj" fmla="val 8571"/>
            </a:avLst>
          </a:prstGeom>
          <a:solidFill>
            <a:srgbClr val="1E293B"/>
          </a:solidFill>
          <a:ln w="9525">
            <a:solidFill>
              <a:srgbClr val="EF4444"/>
            </a:solidFill>
            <a:prstDash val="solid"/>
          </a:ln>
        </p:spPr>
        <p:txBody>
          <a:bodyPr/>
          <a:lstStyle/>
          <a:p>
            <a:endParaRPr lang="en-US"/>
          </a:p>
        </p:txBody>
      </p:sp>
      <p:sp>
        <p:nvSpPr>
          <p:cNvPr id="26" name="Text 23"/>
          <p:cNvSpPr/>
          <p:nvPr/>
        </p:nvSpPr>
        <p:spPr>
          <a:xfrm>
            <a:off x="6217920" y="2898648"/>
            <a:ext cx="1783080" cy="365760"/>
          </a:xfrm>
          <a:prstGeom prst="rect">
            <a:avLst/>
          </a:prstGeom>
          <a:noFill/>
          <a:ln/>
        </p:spPr>
        <p:txBody>
          <a:bodyPr wrap="square" rtlCol="0" anchor="ctr"/>
          <a:lstStyle/>
          <a:p>
            <a:pPr marL="0" indent="0" algn="ctr">
              <a:buNone/>
            </a:pPr>
            <a:r>
              <a:rPr lang="en-US" sz="1800" b="1" dirty="0">
                <a:solidFill>
                  <a:srgbClr val="EF4444"/>
                </a:solidFill>
                <a:latin typeface="Arial" pitchFamily="34" charset="0"/>
                <a:ea typeface="Arial" pitchFamily="34" charset="-122"/>
                <a:cs typeface="Arial" pitchFamily="34" charset="-120"/>
              </a:rPr>
              <a:t>0</a:t>
            </a:r>
            <a:endParaRPr lang="en-US" sz="1800" dirty="0"/>
          </a:p>
        </p:txBody>
      </p:sp>
      <p:sp>
        <p:nvSpPr>
          <p:cNvPr id="27" name="Text 24"/>
          <p:cNvSpPr/>
          <p:nvPr/>
        </p:nvSpPr>
        <p:spPr>
          <a:xfrm>
            <a:off x="6217920"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8" name="Shape 25"/>
          <p:cNvSpPr/>
          <p:nvPr/>
        </p:nvSpPr>
        <p:spPr>
          <a:xfrm>
            <a:off x="8065008" y="2880360"/>
            <a:ext cx="1783080" cy="640080"/>
          </a:xfrm>
          <a:prstGeom prst="roundRect">
            <a:avLst>
              <a:gd name="adj" fmla="val 8571"/>
            </a:avLst>
          </a:prstGeom>
          <a:solidFill>
            <a:srgbClr val="1E293B"/>
          </a:solidFill>
          <a:ln w="9525">
            <a:solidFill>
              <a:srgbClr val="EAB308"/>
            </a:solidFill>
            <a:prstDash val="solid"/>
          </a:ln>
        </p:spPr>
        <p:txBody>
          <a:bodyPr/>
          <a:lstStyle/>
          <a:p>
            <a:endParaRPr lang="en-US"/>
          </a:p>
        </p:txBody>
      </p:sp>
      <p:sp>
        <p:nvSpPr>
          <p:cNvPr id="29" name="Text 26"/>
          <p:cNvSpPr/>
          <p:nvPr/>
        </p:nvSpPr>
        <p:spPr>
          <a:xfrm>
            <a:off x="8065008" y="2898648"/>
            <a:ext cx="1783080" cy="365760"/>
          </a:xfrm>
          <a:prstGeom prst="rect">
            <a:avLst/>
          </a:prstGeom>
          <a:noFill/>
          <a:ln/>
        </p:spPr>
        <p:txBody>
          <a:bodyPr wrap="square" rtlCol="0" anchor="ctr"/>
          <a:lstStyle/>
          <a:p>
            <a:pPr marL="0" indent="0" algn="ctr">
              <a:buNone/>
            </a:pPr>
            <a:r>
              <a:rPr lang="en-US" sz="1800" b="1" dirty="0">
                <a:solidFill>
                  <a:srgbClr val="EAB308"/>
                </a:solidFill>
                <a:latin typeface="Arial" pitchFamily="34" charset="0"/>
                <a:ea typeface="Arial" pitchFamily="34" charset="-122"/>
                <a:cs typeface="Arial" pitchFamily="34" charset="-120"/>
              </a:rPr>
              <a:t>2</a:t>
            </a:r>
            <a:endParaRPr lang="en-US" sz="1800" dirty="0"/>
          </a:p>
        </p:txBody>
      </p:sp>
      <p:sp>
        <p:nvSpPr>
          <p:cNvPr id="30" name="Text 27"/>
          <p:cNvSpPr/>
          <p:nvPr/>
        </p:nvSpPr>
        <p:spPr>
          <a:xfrm>
            <a:off x="8065008"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Drift</a:t>
            </a:r>
            <a:endParaRPr lang="en-US" sz="900" dirty="0"/>
          </a:p>
        </p:txBody>
      </p:sp>
      <p:sp>
        <p:nvSpPr>
          <p:cNvPr id="31" name="Shape 28"/>
          <p:cNvSpPr/>
          <p:nvPr/>
        </p:nvSpPr>
        <p:spPr>
          <a:xfrm>
            <a:off x="9912096" y="2880360"/>
            <a:ext cx="1783080" cy="640080"/>
          </a:xfrm>
          <a:prstGeom prst="roundRect">
            <a:avLst>
              <a:gd name="adj" fmla="val 8571"/>
            </a:avLst>
          </a:prstGeom>
          <a:solidFill>
            <a:srgbClr val="1E293B"/>
          </a:solidFill>
          <a:ln w="9525">
            <a:solidFill>
              <a:srgbClr val="A855F7"/>
            </a:solidFill>
            <a:prstDash val="solid"/>
          </a:ln>
        </p:spPr>
        <p:txBody>
          <a:bodyPr/>
          <a:lstStyle/>
          <a:p>
            <a:endParaRPr lang="en-US"/>
          </a:p>
        </p:txBody>
      </p:sp>
      <p:sp>
        <p:nvSpPr>
          <p:cNvPr id="32" name="Text 29"/>
          <p:cNvSpPr/>
          <p:nvPr/>
        </p:nvSpPr>
        <p:spPr>
          <a:xfrm>
            <a:off x="9912096" y="2898648"/>
            <a:ext cx="1783080" cy="365760"/>
          </a:xfrm>
          <a:prstGeom prst="rect">
            <a:avLst/>
          </a:prstGeom>
          <a:noFill/>
          <a:ln/>
        </p:spPr>
        <p:txBody>
          <a:bodyPr wrap="square" rtlCol="0" anchor="ctr"/>
          <a:lstStyle/>
          <a:p>
            <a:pPr marL="0" indent="0" algn="ctr">
              <a:buNone/>
            </a:pPr>
            <a:r>
              <a:rPr lang="en-US" sz="1800" b="1" dirty="0">
                <a:solidFill>
                  <a:srgbClr val="A855F7"/>
                </a:solidFill>
                <a:latin typeface="Arial" pitchFamily="34" charset="0"/>
                <a:ea typeface="Arial" pitchFamily="34" charset="-122"/>
                <a:cs typeface="Arial" pitchFamily="34" charset="-120"/>
              </a:rPr>
              <a:t>1</a:t>
            </a:r>
            <a:endParaRPr lang="en-US" sz="1800" dirty="0"/>
          </a:p>
        </p:txBody>
      </p:sp>
      <p:sp>
        <p:nvSpPr>
          <p:cNvPr id="33" name="Text 30"/>
          <p:cNvSpPr/>
          <p:nvPr/>
        </p:nvSpPr>
        <p:spPr>
          <a:xfrm>
            <a:off x="9912096"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Tenant-only</a:t>
            </a:r>
            <a:endParaRPr lang="en-US" sz="900" dirty="0"/>
          </a:p>
        </p:txBody>
      </p:sp>
      <p:graphicFrame>
        <p:nvGraphicFramePr>
          <p:cNvPr id="127" name="Table 1"/>
          <p:cNvGraphicFramePr>
            <a:graphicFrameLocks noGrp="1"/>
          </p:cNvGraphicFramePr>
          <p:nvPr>
            <p:extLst>
              <p:ext uri="{D42A27DB-BD31-4B8C-83A1-F6EECF244321}">
                <p14:modId xmlns:p14="http://schemas.microsoft.com/office/powerpoint/2010/main" val="1579011935"/>
              </p:ext>
            </p:extLst>
          </p:nvPr>
        </p:nvGraphicFramePr>
        <p:xfrm>
          <a:off x="6217920" y="3657600"/>
          <a:ext cx="5486400"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Kind</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Sev</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Entry</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97316"/>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SESSION – Admin Persistence (4 Hours)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97316"/>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ZTCA - GLOBAL – BLOCK – Admin Portal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A855F7"/>
                          </a:solidFill>
                          <a:latin typeface="Arial" pitchFamily="34" charset="0"/>
                          <a:ea typeface="Arial" pitchFamily="34" charset="-122"/>
                          <a:cs typeface="Arial" pitchFamily="34" charset="-120"/>
                        </a:rPr>
                        <a:t>tenant-only</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94A3B8"/>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ZTCA - GLOBAL – BLOCK – Admin Portal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Internals (Employees)</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Standard internal members. MFA, compliant device, sign-in risk and user risk policies expected.</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22C55E"/>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88</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40</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19</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1</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0</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 Partial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compliant or hybrid-joined device</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multi-factor authentication</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Sign-in risk based access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User risk based access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4"/>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Text 22"/>
          <p:cNvSpPr/>
          <p:nvPr/>
        </p:nvSpPr>
        <p:spPr>
          <a:xfrm>
            <a:off x="6217920" y="2926080"/>
            <a:ext cx="54864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No baseline gaps detected for this persona.</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Externals (B2B Guests)</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B2B collaboration guests and members from partner Entra tenants. MFA via auth strength (when home tenant trusts it) or basic MFA grant.</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22C55E"/>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100</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3</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0</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0</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multi-factor authentication</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Shape 22"/>
          <p:cNvSpPr/>
          <p:nvPr/>
        </p:nvSpPr>
        <p:spPr>
          <a:xfrm>
            <a:off x="6217920" y="2880360"/>
            <a:ext cx="1783080" cy="640080"/>
          </a:xfrm>
          <a:prstGeom prst="roundRect">
            <a:avLst>
              <a:gd name="adj" fmla="val 8571"/>
            </a:avLst>
          </a:prstGeom>
          <a:solidFill>
            <a:srgbClr val="1E293B"/>
          </a:solidFill>
          <a:ln w="9525">
            <a:solidFill>
              <a:srgbClr val="EF4444"/>
            </a:solidFill>
            <a:prstDash val="solid"/>
          </a:ln>
        </p:spPr>
        <p:txBody>
          <a:bodyPr/>
          <a:lstStyle/>
          <a:p>
            <a:endParaRPr lang="en-US"/>
          </a:p>
        </p:txBody>
      </p:sp>
      <p:sp>
        <p:nvSpPr>
          <p:cNvPr id="26" name="Text 23"/>
          <p:cNvSpPr/>
          <p:nvPr/>
        </p:nvSpPr>
        <p:spPr>
          <a:xfrm>
            <a:off x="6217920" y="2898648"/>
            <a:ext cx="1783080" cy="365760"/>
          </a:xfrm>
          <a:prstGeom prst="rect">
            <a:avLst/>
          </a:prstGeom>
          <a:noFill/>
          <a:ln/>
        </p:spPr>
        <p:txBody>
          <a:bodyPr wrap="square" rtlCol="0" anchor="ctr"/>
          <a:lstStyle/>
          <a:p>
            <a:pPr marL="0" indent="0" algn="ctr">
              <a:buNone/>
            </a:pPr>
            <a:r>
              <a:rPr lang="en-US" sz="1800" b="1" dirty="0">
                <a:solidFill>
                  <a:srgbClr val="EF4444"/>
                </a:solidFill>
                <a:latin typeface="Arial" pitchFamily="34" charset="0"/>
                <a:ea typeface="Arial" pitchFamily="34" charset="-122"/>
                <a:cs typeface="Arial" pitchFamily="34" charset="-120"/>
              </a:rPr>
              <a:t>0</a:t>
            </a:r>
            <a:endParaRPr lang="en-US" sz="1800" dirty="0"/>
          </a:p>
        </p:txBody>
      </p:sp>
      <p:sp>
        <p:nvSpPr>
          <p:cNvPr id="27" name="Text 24"/>
          <p:cNvSpPr/>
          <p:nvPr/>
        </p:nvSpPr>
        <p:spPr>
          <a:xfrm>
            <a:off x="6217920"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8" name="Shape 25"/>
          <p:cNvSpPr/>
          <p:nvPr/>
        </p:nvSpPr>
        <p:spPr>
          <a:xfrm>
            <a:off x="8065008" y="2880360"/>
            <a:ext cx="1783080" cy="640080"/>
          </a:xfrm>
          <a:prstGeom prst="roundRect">
            <a:avLst>
              <a:gd name="adj" fmla="val 8571"/>
            </a:avLst>
          </a:prstGeom>
          <a:solidFill>
            <a:srgbClr val="1E293B"/>
          </a:solidFill>
          <a:ln w="9525">
            <a:solidFill>
              <a:srgbClr val="EAB308"/>
            </a:solidFill>
            <a:prstDash val="solid"/>
          </a:ln>
        </p:spPr>
        <p:txBody>
          <a:bodyPr/>
          <a:lstStyle/>
          <a:p>
            <a:endParaRPr lang="en-US"/>
          </a:p>
        </p:txBody>
      </p:sp>
      <p:sp>
        <p:nvSpPr>
          <p:cNvPr id="29" name="Text 26"/>
          <p:cNvSpPr/>
          <p:nvPr/>
        </p:nvSpPr>
        <p:spPr>
          <a:xfrm>
            <a:off x="8065008" y="2898648"/>
            <a:ext cx="1783080" cy="365760"/>
          </a:xfrm>
          <a:prstGeom prst="rect">
            <a:avLst/>
          </a:prstGeom>
          <a:noFill/>
          <a:ln/>
        </p:spPr>
        <p:txBody>
          <a:bodyPr wrap="square" rtlCol="0" anchor="ctr"/>
          <a:lstStyle/>
          <a:p>
            <a:pPr marL="0" indent="0" algn="ctr">
              <a:buNone/>
            </a:pPr>
            <a:r>
              <a:rPr lang="en-US" sz="1800" b="1" dirty="0">
                <a:solidFill>
                  <a:srgbClr val="EAB308"/>
                </a:solidFill>
                <a:latin typeface="Arial" pitchFamily="34" charset="0"/>
                <a:ea typeface="Arial" pitchFamily="34" charset="-122"/>
                <a:cs typeface="Arial" pitchFamily="34" charset="-120"/>
              </a:rPr>
              <a:t>2</a:t>
            </a:r>
            <a:endParaRPr lang="en-US" sz="1800" dirty="0"/>
          </a:p>
        </p:txBody>
      </p:sp>
      <p:sp>
        <p:nvSpPr>
          <p:cNvPr id="30" name="Text 27"/>
          <p:cNvSpPr/>
          <p:nvPr/>
        </p:nvSpPr>
        <p:spPr>
          <a:xfrm>
            <a:off x="8065008"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Drift</a:t>
            </a:r>
            <a:endParaRPr lang="en-US" sz="900" dirty="0"/>
          </a:p>
        </p:txBody>
      </p:sp>
      <p:sp>
        <p:nvSpPr>
          <p:cNvPr id="31" name="Shape 28"/>
          <p:cNvSpPr/>
          <p:nvPr/>
        </p:nvSpPr>
        <p:spPr>
          <a:xfrm>
            <a:off x="9912096" y="2880360"/>
            <a:ext cx="1783080" cy="640080"/>
          </a:xfrm>
          <a:prstGeom prst="roundRect">
            <a:avLst>
              <a:gd name="adj" fmla="val 8571"/>
            </a:avLst>
          </a:prstGeom>
          <a:solidFill>
            <a:srgbClr val="1E293B"/>
          </a:solidFill>
          <a:ln w="9525">
            <a:solidFill>
              <a:srgbClr val="A855F7"/>
            </a:solidFill>
            <a:prstDash val="solid"/>
          </a:ln>
        </p:spPr>
        <p:txBody>
          <a:bodyPr/>
          <a:lstStyle/>
          <a:p>
            <a:endParaRPr lang="en-US"/>
          </a:p>
        </p:txBody>
      </p:sp>
      <p:sp>
        <p:nvSpPr>
          <p:cNvPr id="32" name="Text 29"/>
          <p:cNvSpPr/>
          <p:nvPr/>
        </p:nvSpPr>
        <p:spPr>
          <a:xfrm>
            <a:off x="9912096" y="2898648"/>
            <a:ext cx="1783080" cy="365760"/>
          </a:xfrm>
          <a:prstGeom prst="rect">
            <a:avLst/>
          </a:prstGeom>
          <a:noFill/>
          <a:ln/>
        </p:spPr>
        <p:txBody>
          <a:bodyPr wrap="square" rtlCol="0" anchor="ctr"/>
          <a:lstStyle/>
          <a:p>
            <a:pPr marL="0" indent="0" algn="ctr">
              <a:buNone/>
            </a:pPr>
            <a:r>
              <a:rPr lang="en-US" sz="1800" b="1" dirty="0">
                <a:solidFill>
                  <a:srgbClr val="A855F7"/>
                </a:solidFill>
                <a:latin typeface="Arial" pitchFamily="34" charset="0"/>
                <a:ea typeface="Arial" pitchFamily="34" charset="-122"/>
                <a:cs typeface="Arial" pitchFamily="34" charset="-120"/>
              </a:rPr>
              <a:t>0</a:t>
            </a:r>
            <a:endParaRPr lang="en-US" sz="1800" dirty="0"/>
          </a:p>
        </p:txBody>
      </p:sp>
      <p:sp>
        <p:nvSpPr>
          <p:cNvPr id="33" name="Text 30"/>
          <p:cNvSpPr/>
          <p:nvPr/>
        </p:nvSpPr>
        <p:spPr>
          <a:xfrm>
            <a:off x="9912096"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Tenant-only</a:t>
            </a:r>
            <a:endParaRPr lang="en-US" sz="900" dirty="0"/>
          </a:p>
        </p:txBody>
      </p:sp>
      <p:graphicFrame>
        <p:nvGraphicFramePr>
          <p:cNvPr id="131" name="Table 1"/>
          <p:cNvGraphicFramePr>
            <a:graphicFrameLocks noGrp="1"/>
          </p:cNvGraphicFramePr>
          <p:nvPr>
            <p:extLst>
              <p:ext uri="{D42A27DB-BD31-4B8C-83A1-F6EECF244321}">
                <p14:modId xmlns:p14="http://schemas.microsoft.com/office/powerpoint/2010/main" val="1579011935"/>
              </p:ext>
            </p:extLst>
          </p:nvPr>
        </p:nvGraphicFramePr>
        <p:xfrm>
          <a:off x="6217920" y="3657600"/>
          <a:ext cx="5486400"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Kind</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Sev</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Entry</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AB308"/>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GRANT - MFA - B2B-Guest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AB308"/>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GRANT - MFA - Mixed-Guests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Guest Admins (External Privileged)</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External admins (GDAP/CSP, partner privileged users). Require strong auth and tight session controls.</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EAB308"/>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EAB308"/>
                </a:solidFill>
                <a:latin typeface="Arial" pitchFamily="34" charset="0"/>
                <a:ea typeface="Arial" pitchFamily="34" charset="-122"/>
                <a:cs typeface="Arial" pitchFamily="34" charset="-120"/>
              </a:rPr>
              <a:t>67</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3</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2</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0</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1</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F4444"/>
                          </a:solidFill>
                          <a:latin typeface="Arial" pitchFamily="34" charset="0"/>
                          <a:ea typeface="Arial" pitchFamily="34" charset="-122"/>
                          <a:cs typeface="Arial" pitchFamily="34" charset="-120"/>
                        </a:rPr>
                        <a:t>✗ Missing</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Sign-in frequency / session controls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multi-factor authentication</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Phishing-resistant MFA</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Text 22"/>
          <p:cNvSpPr/>
          <p:nvPr/>
        </p:nvSpPr>
        <p:spPr>
          <a:xfrm>
            <a:off x="6217920" y="2926080"/>
            <a:ext cx="54864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No baseline gaps detected for this persona.</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Developers</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Higher-privilege internal developers. Often need access to dev/test tenants and tooling — requires its own MFA + compliant device set.</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22C55E"/>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83</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40</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19</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2</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1</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0</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 Partial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compliant or hybrid-joined device</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Require multi-factor authentication</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User risk based access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Text 22"/>
          <p:cNvSpPr/>
          <p:nvPr/>
        </p:nvSpPr>
        <p:spPr>
          <a:xfrm>
            <a:off x="6217920" y="2926080"/>
            <a:ext cx="54864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No baseline gaps detected for this persona.</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Corporate Service Accounts</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User-mode service accounts that run automation. Should be locked to specific networks/locations and excluded from interactive MFA.</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22C55E"/>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100</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1</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0</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0</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Restrict to corporate network / trusted locations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Shape 22"/>
          <p:cNvSpPr/>
          <p:nvPr/>
        </p:nvSpPr>
        <p:spPr>
          <a:xfrm>
            <a:off x="6217920" y="2880360"/>
            <a:ext cx="1783080" cy="640080"/>
          </a:xfrm>
          <a:prstGeom prst="roundRect">
            <a:avLst>
              <a:gd name="adj" fmla="val 8571"/>
            </a:avLst>
          </a:prstGeom>
          <a:solidFill>
            <a:srgbClr val="1E293B"/>
          </a:solidFill>
          <a:ln w="9525">
            <a:solidFill>
              <a:srgbClr val="EF4444"/>
            </a:solidFill>
            <a:prstDash val="solid"/>
          </a:ln>
        </p:spPr>
        <p:txBody>
          <a:bodyPr/>
          <a:lstStyle/>
          <a:p>
            <a:endParaRPr lang="en-US"/>
          </a:p>
        </p:txBody>
      </p:sp>
      <p:sp>
        <p:nvSpPr>
          <p:cNvPr id="26" name="Text 23"/>
          <p:cNvSpPr/>
          <p:nvPr/>
        </p:nvSpPr>
        <p:spPr>
          <a:xfrm>
            <a:off x="6217920" y="2898648"/>
            <a:ext cx="1783080" cy="365760"/>
          </a:xfrm>
          <a:prstGeom prst="rect">
            <a:avLst/>
          </a:prstGeom>
          <a:noFill/>
          <a:ln/>
        </p:spPr>
        <p:txBody>
          <a:bodyPr wrap="square" rtlCol="0" anchor="ctr"/>
          <a:lstStyle/>
          <a:p>
            <a:pPr marL="0" indent="0" algn="ctr">
              <a:buNone/>
            </a:pPr>
            <a:r>
              <a:rPr lang="en-US" sz="1800" b="1" dirty="0">
                <a:solidFill>
                  <a:srgbClr val="EF4444"/>
                </a:solidFill>
                <a:latin typeface="Arial" pitchFamily="34" charset="0"/>
                <a:ea typeface="Arial" pitchFamily="34" charset="-122"/>
                <a:cs typeface="Arial" pitchFamily="34" charset="-120"/>
              </a:rPr>
              <a:t>0</a:t>
            </a:r>
            <a:endParaRPr lang="en-US" sz="1800" dirty="0"/>
          </a:p>
        </p:txBody>
      </p:sp>
      <p:sp>
        <p:nvSpPr>
          <p:cNvPr id="27" name="Text 24"/>
          <p:cNvSpPr/>
          <p:nvPr/>
        </p:nvSpPr>
        <p:spPr>
          <a:xfrm>
            <a:off x="6217920"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8" name="Shape 25"/>
          <p:cNvSpPr/>
          <p:nvPr/>
        </p:nvSpPr>
        <p:spPr>
          <a:xfrm>
            <a:off x="8065008" y="2880360"/>
            <a:ext cx="1783080" cy="640080"/>
          </a:xfrm>
          <a:prstGeom prst="roundRect">
            <a:avLst>
              <a:gd name="adj" fmla="val 8571"/>
            </a:avLst>
          </a:prstGeom>
          <a:solidFill>
            <a:srgbClr val="1E293B"/>
          </a:solidFill>
          <a:ln w="9525">
            <a:solidFill>
              <a:srgbClr val="EAB308"/>
            </a:solidFill>
            <a:prstDash val="solid"/>
          </a:ln>
        </p:spPr>
        <p:txBody>
          <a:bodyPr/>
          <a:lstStyle/>
          <a:p>
            <a:endParaRPr lang="en-US"/>
          </a:p>
        </p:txBody>
      </p:sp>
      <p:sp>
        <p:nvSpPr>
          <p:cNvPr id="29" name="Text 26"/>
          <p:cNvSpPr/>
          <p:nvPr/>
        </p:nvSpPr>
        <p:spPr>
          <a:xfrm>
            <a:off x="8065008" y="2898648"/>
            <a:ext cx="1783080" cy="365760"/>
          </a:xfrm>
          <a:prstGeom prst="rect">
            <a:avLst/>
          </a:prstGeom>
          <a:noFill/>
          <a:ln/>
        </p:spPr>
        <p:txBody>
          <a:bodyPr wrap="square" rtlCol="0" anchor="ctr"/>
          <a:lstStyle/>
          <a:p>
            <a:pPr marL="0" indent="0" algn="ctr">
              <a:buNone/>
            </a:pPr>
            <a:r>
              <a:rPr lang="en-US" sz="1800" b="1" dirty="0">
                <a:solidFill>
                  <a:srgbClr val="EAB308"/>
                </a:solidFill>
                <a:latin typeface="Arial" pitchFamily="34" charset="0"/>
                <a:ea typeface="Arial" pitchFamily="34" charset="-122"/>
                <a:cs typeface="Arial" pitchFamily="34" charset="-120"/>
              </a:rPr>
              <a:t>1</a:t>
            </a:r>
            <a:endParaRPr lang="en-US" sz="1800" dirty="0"/>
          </a:p>
        </p:txBody>
      </p:sp>
      <p:sp>
        <p:nvSpPr>
          <p:cNvPr id="30" name="Text 27"/>
          <p:cNvSpPr/>
          <p:nvPr/>
        </p:nvSpPr>
        <p:spPr>
          <a:xfrm>
            <a:off x="8065008"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Drift</a:t>
            </a:r>
            <a:endParaRPr lang="en-US" sz="900" dirty="0"/>
          </a:p>
        </p:txBody>
      </p:sp>
      <p:sp>
        <p:nvSpPr>
          <p:cNvPr id="31" name="Shape 28"/>
          <p:cNvSpPr/>
          <p:nvPr/>
        </p:nvSpPr>
        <p:spPr>
          <a:xfrm>
            <a:off x="9912096" y="2880360"/>
            <a:ext cx="1783080" cy="640080"/>
          </a:xfrm>
          <a:prstGeom prst="roundRect">
            <a:avLst>
              <a:gd name="adj" fmla="val 8571"/>
            </a:avLst>
          </a:prstGeom>
          <a:solidFill>
            <a:srgbClr val="1E293B"/>
          </a:solidFill>
          <a:ln w="9525">
            <a:solidFill>
              <a:srgbClr val="A855F7"/>
            </a:solidFill>
            <a:prstDash val="solid"/>
          </a:ln>
        </p:spPr>
        <p:txBody>
          <a:bodyPr/>
          <a:lstStyle/>
          <a:p>
            <a:endParaRPr lang="en-US"/>
          </a:p>
        </p:txBody>
      </p:sp>
      <p:sp>
        <p:nvSpPr>
          <p:cNvPr id="32" name="Text 29"/>
          <p:cNvSpPr/>
          <p:nvPr/>
        </p:nvSpPr>
        <p:spPr>
          <a:xfrm>
            <a:off x="9912096" y="2898648"/>
            <a:ext cx="1783080" cy="365760"/>
          </a:xfrm>
          <a:prstGeom prst="rect">
            <a:avLst/>
          </a:prstGeom>
          <a:noFill/>
          <a:ln/>
        </p:spPr>
        <p:txBody>
          <a:bodyPr wrap="square" rtlCol="0" anchor="ctr"/>
          <a:lstStyle/>
          <a:p>
            <a:pPr marL="0" indent="0" algn="ctr">
              <a:buNone/>
            </a:pPr>
            <a:r>
              <a:rPr lang="en-US" sz="1800" b="1" dirty="0">
                <a:solidFill>
                  <a:srgbClr val="A855F7"/>
                </a:solidFill>
                <a:latin typeface="Arial" pitchFamily="34" charset="0"/>
                <a:ea typeface="Arial" pitchFamily="34" charset="-122"/>
                <a:cs typeface="Arial" pitchFamily="34" charset="-120"/>
              </a:rPr>
              <a:t>0</a:t>
            </a:r>
            <a:endParaRPr lang="en-US" sz="1800" dirty="0"/>
          </a:p>
        </p:txBody>
      </p:sp>
      <p:sp>
        <p:nvSpPr>
          <p:cNvPr id="33" name="Text 30"/>
          <p:cNvSpPr/>
          <p:nvPr/>
        </p:nvSpPr>
        <p:spPr>
          <a:xfrm>
            <a:off x="9912096"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Tenant-only</a:t>
            </a:r>
            <a:endParaRPr lang="en-US" sz="900" dirty="0"/>
          </a:p>
        </p:txBody>
      </p:sp>
      <p:graphicFrame>
        <p:nvGraphicFramePr>
          <p:cNvPr id="137" name="Table 1"/>
          <p:cNvGraphicFramePr>
            <a:graphicFrameLocks noGrp="1"/>
          </p:cNvGraphicFramePr>
          <p:nvPr>
            <p:extLst>
              <p:ext uri="{D42A27DB-BD31-4B8C-83A1-F6EECF244321}">
                <p14:modId xmlns:p14="http://schemas.microsoft.com/office/powerpoint/2010/main" val="1579011935"/>
              </p:ext>
            </p:extLst>
          </p:nvPr>
        </p:nvGraphicFramePr>
        <p:xfrm>
          <a:off x="6217920" y="3657600"/>
          <a:ext cx="5486400"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Kind</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Sev</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Entry</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AB308"/>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GLOBAL – BLOCK – Service Accounts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Workload Identities</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Service principals and managed identities. Require Workload Identities Premium and CA policies targeting servicePrincipals.</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EAB308"/>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EAB308"/>
                </a:solidFill>
                <a:latin typeface="Arial" pitchFamily="34" charset="0"/>
                <a:ea typeface="Arial" pitchFamily="34" charset="-122"/>
                <a:cs typeface="Arial" pitchFamily="34" charset="-120"/>
              </a:rPr>
              <a:t>50</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0</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1</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F4444"/>
                          </a:solidFill>
                          <a:latin typeface="Arial" pitchFamily="34" charset="0"/>
                          <a:ea typeface="Arial" pitchFamily="34" charset="-122"/>
                          <a:cs typeface="Arial" pitchFamily="34" charset="-120"/>
                        </a:rPr>
                        <a:t>✗ Missing</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Restrict to corporate network / trusted locations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Sign-in risk based access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Shape 22"/>
          <p:cNvSpPr/>
          <p:nvPr/>
        </p:nvSpPr>
        <p:spPr>
          <a:xfrm>
            <a:off x="6217920" y="2880360"/>
            <a:ext cx="1783080" cy="640080"/>
          </a:xfrm>
          <a:prstGeom prst="roundRect">
            <a:avLst>
              <a:gd name="adj" fmla="val 8571"/>
            </a:avLst>
          </a:prstGeom>
          <a:solidFill>
            <a:srgbClr val="1E293B"/>
          </a:solidFill>
          <a:ln w="9525">
            <a:solidFill>
              <a:srgbClr val="EF4444"/>
            </a:solidFill>
            <a:prstDash val="solid"/>
          </a:ln>
        </p:spPr>
        <p:txBody>
          <a:bodyPr/>
          <a:lstStyle/>
          <a:p>
            <a:endParaRPr lang="en-US"/>
          </a:p>
        </p:txBody>
      </p:sp>
      <p:sp>
        <p:nvSpPr>
          <p:cNvPr id="26" name="Text 23"/>
          <p:cNvSpPr/>
          <p:nvPr/>
        </p:nvSpPr>
        <p:spPr>
          <a:xfrm>
            <a:off x="6217920" y="2898648"/>
            <a:ext cx="1783080" cy="365760"/>
          </a:xfrm>
          <a:prstGeom prst="rect">
            <a:avLst/>
          </a:prstGeom>
          <a:noFill/>
          <a:ln/>
        </p:spPr>
        <p:txBody>
          <a:bodyPr wrap="square" rtlCol="0" anchor="ctr"/>
          <a:lstStyle/>
          <a:p>
            <a:pPr marL="0" indent="0" algn="ctr">
              <a:buNone/>
            </a:pPr>
            <a:r>
              <a:rPr lang="en-US" sz="1800" b="1" dirty="0">
                <a:solidFill>
                  <a:srgbClr val="EF4444"/>
                </a:solidFill>
                <a:latin typeface="Arial" pitchFamily="34" charset="0"/>
                <a:ea typeface="Arial" pitchFamily="34" charset="-122"/>
                <a:cs typeface="Arial" pitchFamily="34" charset="-120"/>
              </a:rPr>
              <a:t>0</a:t>
            </a:r>
            <a:endParaRPr lang="en-US" sz="1800" dirty="0"/>
          </a:p>
        </p:txBody>
      </p:sp>
      <p:sp>
        <p:nvSpPr>
          <p:cNvPr id="27" name="Text 24"/>
          <p:cNvSpPr/>
          <p:nvPr/>
        </p:nvSpPr>
        <p:spPr>
          <a:xfrm>
            <a:off x="6217920"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8" name="Shape 25"/>
          <p:cNvSpPr/>
          <p:nvPr/>
        </p:nvSpPr>
        <p:spPr>
          <a:xfrm>
            <a:off x="8065008" y="2880360"/>
            <a:ext cx="1783080" cy="640080"/>
          </a:xfrm>
          <a:prstGeom prst="roundRect">
            <a:avLst>
              <a:gd name="adj" fmla="val 8571"/>
            </a:avLst>
          </a:prstGeom>
          <a:solidFill>
            <a:srgbClr val="1E293B"/>
          </a:solidFill>
          <a:ln w="9525">
            <a:solidFill>
              <a:srgbClr val="EAB308"/>
            </a:solidFill>
            <a:prstDash val="solid"/>
          </a:ln>
        </p:spPr>
        <p:txBody>
          <a:bodyPr/>
          <a:lstStyle/>
          <a:p>
            <a:endParaRPr lang="en-US"/>
          </a:p>
        </p:txBody>
      </p:sp>
      <p:sp>
        <p:nvSpPr>
          <p:cNvPr id="29" name="Text 26"/>
          <p:cNvSpPr/>
          <p:nvPr/>
        </p:nvSpPr>
        <p:spPr>
          <a:xfrm>
            <a:off x="8065008" y="2898648"/>
            <a:ext cx="1783080" cy="365760"/>
          </a:xfrm>
          <a:prstGeom prst="rect">
            <a:avLst/>
          </a:prstGeom>
          <a:noFill/>
          <a:ln/>
        </p:spPr>
        <p:txBody>
          <a:bodyPr wrap="square" rtlCol="0" anchor="ctr"/>
          <a:lstStyle/>
          <a:p>
            <a:pPr marL="0" indent="0" algn="ctr">
              <a:buNone/>
            </a:pPr>
            <a:r>
              <a:rPr lang="en-US" sz="1800" b="1" dirty="0">
                <a:solidFill>
                  <a:srgbClr val="EAB308"/>
                </a:solidFill>
                <a:latin typeface="Arial" pitchFamily="34" charset="0"/>
                <a:ea typeface="Arial" pitchFamily="34" charset="-122"/>
                <a:cs typeface="Arial" pitchFamily="34" charset="-120"/>
              </a:rPr>
              <a:t>2</a:t>
            </a:r>
            <a:endParaRPr lang="en-US" sz="1800" dirty="0"/>
          </a:p>
        </p:txBody>
      </p:sp>
      <p:sp>
        <p:nvSpPr>
          <p:cNvPr id="30" name="Text 27"/>
          <p:cNvSpPr/>
          <p:nvPr/>
        </p:nvSpPr>
        <p:spPr>
          <a:xfrm>
            <a:off x="8065008"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Drift</a:t>
            </a:r>
            <a:endParaRPr lang="en-US" sz="900" dirty="0"/>
          </a:p>
        </p:txBody>
      </p:sp>
      <p:sp>
        <p:nvSpPr>
          <p:cNvPr id="31" name="Shape 28"/>
          <p:cNvSpPr/>
          <p:nvPr/>
        </p:nvSpPr>
        <p:spPr>
          <a:xfrm>
            <a:off x="9912096" y="2880360"/>
            <a:ext cx="1783080" cy="640080"/>
          </a:xfrm>
          <a:prstGeom prst="roundRect">
            <a:avLst>
              <a:gd name="adj" fmla="val 8571"/>
            </a:avLst>
          </a:prstGeom>
          <a:solidFill>
            <a:srgbClr val="1E293B"/>
          </a:solidFill>
          <a:ln w="9525">
            <a:solidFill>
              <a:srgbClr val="A855F7"/>
            </a:solidFill>
            <a:prstDash val="solid"/>
          </a:ln>
        </p:spPr>
        <p:txBody>
          <a:bodyPr/>
          <a:lstStyle/>
          <a:p>
            <a:endParaRPr lang="en-US"/>
          </a:p>
        </p:txBody>
      </p:sp>
      <p:sp>
        <p:nvSpPr>
          <p:cNvPr id="32" name="Text 29"/>
          <p:cNvSpPr/>
          <p:nvPr/>
        </p:nvSpPr>
        <p:spPr>
          <a:xfrm>
            <a:off x="9912096" y="2898648"/>
            <a:ext cx="1783080" cy="365760"/>
          </a:xfrm>
          <a:prstGeom prst="rect">
            <a:avLst/>
          </a:prstGeom>
          <a:noFill/>
          <a:ln/>
        </p:spPr>
        <p:txBody>
          <a:bodyPr wrap="square" rtlCol="0" anchor="ctr"/>
          <a:lstStyle/>
          <a:p>
            <a:pPr marL="0" indent="0" algn="ctr">
              <a:buNone/>
            </a:pPr>
            <a:r>
              <a:rPr lang="en-US" sz="1800" b="1" dirty="0">
                <a:solidFill>
                  <a:srgbClr val="A855F7"/>
                </a:solidFill>
                <a:latin typeface="Arial" pitchFamily="34" charset="0"/>
                <a:ea typeface="Arial" pitchFamily="34" charset="-122"/>
                <a:cs typeface="Arial" pitchFamily="34" charset="-120"/>
              </a:rPr>
              <a:t>0</a:t>
            </a:r>
            <a:endParaRPr lang="en-US" sz="1800" dirty="0"/>
          </a:p>
        </p:txBody>
      </p:sp>
      <p:sp>
        <p:nvSpPr>
          <p:cNvPr id="33" name="Text 30"/>
          <p:cNvSpPr/>
          <p:nvPr/>
        </p:nvSpPr>
        <p:spPr>
          <a:xfrm>
            <a:off x="9912096" y="3264408"/>
            <a:ext cx="1783080" cy="22860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Tenant-only</a:t>
            </a:r>
            <a:endParaRPr lang="en-US" sz="900" dirty="0"/>
          </a:p>
        </p:txBody>
      </p:sp>
      <p:graphicFrame>
        <p:nvGraphicFramePr>
          <p:cNvPr id="139" name="Table 1"/>
          <p:cNvGraphicFramePr>
            <a:graphicFrameLocks noGrp="1"/>
          </p:cNvGraphicFramePr>
          <p:nvPr>
            <p:extLst>
              <p:ext uri="{D42A27DB-BD31-4B8C-83A1-F6EECF244321}">
                <p14:modId xmlns:p14="http://schemas.microsoft.com/office/powerpoint/2010/main" val="1579011935"/>
              </p:ext>
            </p:extLst>
          </p:nvPr>
        </p:nvGraphicFramePr>
        <p:xfrm>
          <a:off x="6217920" y="3657600"/>
          <a:ext cx="5486400"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Kind</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Sev</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Entry</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AB308"/>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AGENT - BLOCK - HighRiskAgent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EAB308"/>
                          </a:solidFill>
                          <a:latin typeface="Arial" pitchFamily="34" charset="0"/>
                          <a:ea typeface="Arial" pitchFamily="34" charset="-122"/>
                          <a:cs typeface="Arial" pitchFamily="34" charset="-120"/>
                        </a:rPr>
                        <a:t>drift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EAB308"/>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IAC - AGENT - BLOCK - NonTrustedAgents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  Microsoft 365 Service Accounts</a:t>
            </a:r>
            <a:endParaRPr lang="en-US" sz="24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Sync accounts (Entra Connect, on-prem hybrid). Excluded from MFA but locked to known locations.</a:t>
            </a:r>
            <a:endParaRPr lang="en-US" sz="1100" dirty="0"/>
          </a:p>
        </p:txBody>
      </p:sp>
      <p:sp>
        <p:nvSpPr>
          <p:cNvPr id="4" name="Shape 2"/>
          <p:cNvSpPr/>
          <p:nvPr/>
        </p:nvSpPr>
        <p:spPr>
          <a:xfrm>
            <a:off x="9509760" y="274320"/>
            <a:ext cx="2103120" cy="960120"/>
          </a:xfrm>
          <a:prstGeom prst="roundRect">
            <a:avLst>
              <a:gd name="adj" fmla="val 9524"/>
            </a:avLst>
          </a:prstGeom>
          <a:solidFill>
            <a:srgbClr val="1E293B"/>
          </a:solidFill>
          <a:ln w="25400">
            <a:solidFill>
              <a:srgbClr val="22C55E"/>
            </a:solidFill>
            <a:prstDash val="solid"/>
          </a:ln>
        </p:spPr>
        <p:txBody>
          <a:bodyPr/>
          <a:lstStyle/>
          <a:p>
            <a:endParaRPr lang="en-US"/>
          </a:p>
        </p:txBody>
      </p:sp>
      <p:sp>
        <p:nvSpPr>
          <p:cNvPr id="5" name="Text 3"/>
          <p:cNvSpPr/>
          <p:nvPr/>
        </p:nvSpPr>
        <p:spPr>
          <a:xfrm>
            <a:off x="9509760" y="292608"/>
            <a:ext cx="2103120" cy="59436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100</a:t>
            </a:r>
            <a:endParaRPr lang="en-US" sz="3200" dirty="0"/>
          </a:p>
        </p:txBody>
      </p:sp>
      <p:sp>
        <p:nvSpPr>
          <p:cNvPr id="6" name="Text 4"/>
          <p:cNvSpPr/>
          <p:nvPr/>
        </p:nvSpPr>
        <p:spPr>
          <a:xfrm>
            <a:off x="9509760" y="868680"/>
            <a:ext cx="2103120" cy="32004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Coverage Score</a:t>
            </a:r>
            <a:endParaRPr lang="en-US" sz="900" dirty="0"/>
          </a:p>
        </p:txBody>
      </p:sp>
      <p:sp>
        <p:nvSpPr>
          <p:cNvPr id="7" name="Shape 5"/>
          <p:cNvSpPr/>
          <p:nvPr/>
        </p:nvSpPr>
        <p:spPr>
          <a:xfrm>
            <a:off x="457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8" name="Text 6"/>
          <p:cNvSpPr/>
          <p:nvPr/>
        </p:nvSpPr>
        <p:spPr>
          <a:xfrm>
            <a:off x="457200" y="1508760"/>
            <a:ext cx="2194560" cy="411480"/>
          </a:xfrm>
          <a:prstGeom prst="rect">
            <a:avLst/>
          </a:prstGeom>
          <a:noFill/>
          <a:ln/>
        </p:spPr>
        <p:txBody>
          <a:bodyPr wrap="square" rtlCol="0" anchor="ctr"/>
          <a:lstStyle/>
          <a:p>
            <a:pPr marL="0" indent="0" algn="ctr">
              <a:buNone/>
            </a:pPr>
            <a:r>
              <a:rPr lang="en-US" sz="2200" b="1" dirty="0">
                <a:solidFill>
                  <a:srgbClr val="F1F5F9"/>
                </a:solidFill>
                <a:latin typeface="Arial" pitchFamily="34" charset="0"/>
                <a:ea typeface="Arial" pitchFamily="34" charset="-122"/>
                <a:cs typeface="Arial" pitchFamily="34" charset="-120"/>
              </a:rPr>
              <a:t>1</a:t>
            </a:r>
            <a:endParaRPr lang="en-US" sz="2200" dirty="0"/>
          </a:p>
        </p:txBody>
      </p:sp>
      <p:sp>
        <p:nvSpPr>
          <p:cNvPr id="9" name="Text 7"/>
          <p:cNvSpPr/>
          <p:nvPr/>
        </p:nvSpPr>
        <p:spPr>
          <a:xfrm>
            <a:off x="457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Assigned policies</a:t>
            </a:r>
            <a:endParaRPr lang="en-US" sz="900" dirty="0"/>
          </a:p>
        </p:txBody>
      </p:sp>
      <p:sp>
        <p:nvSpPr>
          <p:cNvPr id="10" name="Shape 8"/>
          <p:cNvSpPr/>
          <p:nvPr/>
        </p:nvSpPr>
        <p:spPr>
          <a:xfrm>
            <a:off x="2743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1" name="Text 9"/>
          <p:cNvSpPr/>
          <p:nvPr/>
        </p:nvSpPr>
        <p:spPr>
          <a:xfrm>
            <a:off x="2743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a:t>
            </a:r>
            <a:endParaRPr lang="en-US" sz="2200" dirty="0"/>
          </a:p>
        </p:txBody>
      </p:sp>
      <p:sp>
        <p:nvSpPr>
          <p:cNvPr id="12" name="Text 10"/>
          <p:cNvSpPr/>
          <p:nvPr/>
        </p:nvSpPr>
        <p:spPr>
          <a:xfrm>
            <a:off x="2743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Enabled</a:t>
            </a:r>
            <a:endParaRPr lang="en-US" sz="900" dirty="0"/>
          </a:p>
        </p:txBody>
      </p:sp>
      <p:sp>
        <p:nvSpPr>
          <p:cNvPr id="13" name="Shape 11"/>
          <p:cNvSpPr/>
          <p:nvPr/>
        </p:nvSpPr>
        <p:spPr>
          <a:xfrm>
            <a:off x="5029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4" name="Text 12"/>
          <p:cNvSpPr/>
          <p:nvPr/>
        </p:nvSpPr>
        <p:spPr>
          <a:xfrm>
            <a:off x="5029200" y="1508760"/>
            <a:ext cx="2194560" cy="411480"/>
          </a:xfrm>
          <a:prstGeom prst="rect">
            <a:avLst/>
          </a:prstGeom>
          <a:noFill/>
          <a:ln/>
        </p:spPr>
        <p:txBody>
          <a:bodyPr wrap="square" rtlCol="0" anchor="ctr"/>
          <a:lstStyle/>
          <a:p>
            <a:pPr marL="0" indent="0" algn="ctr">
              <a:buNone/>
            </a:pPr>
            <a:r>
              <a:rPr lang="en-US" sz="2200" b="1" dirty="0">
                <a:solidFill>
                  <a:srgbClr val="22C55E"/>
                </a:solidFill>
                <a:latin typeface="Arial" pitchFamily="34" charset="0"/>
                <a:ea typeface="Arial" pitchFamily="34" charset="-122"/>
                <a:cs typeface="Arial" pitchFamily="34" charset="-120"/>
              </a:rPr>
              <a:t>1</a:t>
            </a:r>
            <a:endParaRPr lang="en-US" sz="2200" dirty="0"/>
          </a:p>
        </p:txBody>
      </p:sp>
      <p:sp>
        <p:nvSpPr>
          <p:cNvPr id="15" name="Text 13"/>
          <p:cNvSpPr/>
          <p:nvPr/>
        </p:nvSpPr>
        <p:spPr>
          <a:xfrm>
            <a:off x="5029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Controls present</a:t>
            </a:r>
            <a:endParaRPr lang="en-US" sz="900" dirty="0"/>
          </a:p>
        </p:txBody>
      </p:sp>
      <p:sp>
        <p:nvSpPr>
          <p:cNvPr id="16" name="Shape 14"/>
          <p:cNvSpPr/>
          <p:nvPr/>
        </p:nvSpPr>
        <p:spPr>
          <a:xfrm>
            <a:off x="7315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17" name="Text 15"/>
          <p:cNvSpPr/>
          <p:nvPr/>
        </p:nvSpPr>
        <p:spPr>
          <a:xfrm>
            <a:off x="7315200" y="1508760"/>
            <a:ext cx="2194560" cy="411480"/>
          </a:xfrm>
          <a:prstGeom prst="rect">
            <a:avLst/>
          </a:prstGeom>
          <a:noFill/>
          <a:ln/>
        </p:spPr>
        <p:txBody>
          <a:bodyPr wrap="square" rtlCol="0" anchor="ctr"/>
          <a:lstStyle/>
          <a:p>
            <a:pPr marL="0" indent="0" algn="ctr">
              <a:buNone/>
            </a:pPr>
            <a:r>
              <a:rPr lang="en-US" sz="2200" b="1" dirty="0">
                <a:solidFill>
                  <a:srgbClr val="EAB308"/>
                </a:solidFill>
                <a:latin typeface="Arial" pitchFamily="34" charset="0"/>
                <a:ea typeface="Arial" pitchFamily="34" charset="-122"/>
                <a:cs typeface="Arial" pitchFamily="34" charset="-120"/>
              </a:rPr>
              <a:t>0</a:t>
            </a:r>
            <a:endParaRPr lang="en-US" sz="2200" dirty="0"/>
          </a:p>
        </p:txBody>
      </p:sp>
      <p:sp>
        <p:nvSpPr>
          <p:cNvPr id="18" name="Text 16"/>
          <p:cNvSpPr/>
          <p:nvPr/>
        </p:nvSpPr>
        <p:spPr>
          <a:xfrm>
            <a:off x="7315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Partial</a:t>
            </a:r>
            <a:endParaRPr lang="en-US" sz="900" dirty="0"/>
          </a:p>
        </p:txBody>
      </p:sp>
      <p:sp>
        <p:nvSpPr>
          <p:cNvPr id="19" name="Shape 17"/>
          <p:cNvSpPr/>
          <p:nvPr/>
        </p:nvSpPr>
        <p:spPr>
          <a:xfrm>
            <a:off x="9601200" y="1463040"/>
            <a:ext cx="2194560" cy="777240"/>
          </a:xfrm>
          <a:prstGeom prst="roundRect">
            <a:avLst>
              <a:gd name="adj" fmla="val 7059"/>
            </a:avLst>
          </a:prstGeom>
          <a:solidFill>
            <a:srgbClr val="1E293B"/>
          </a:solidFill>
          <a:ln w="6350">
            <a:solidFill>
              <a:srgbClr val="94A3B8"/>
            </a:solidFill>
            <a:prstDash val="solid"/>
          </a:ln>
        </p:spPr>
        <p:txBody>
          <a:bodyPr/>
          <a:lstStyle/>
          <a:p>
            <a:endParaRPr lang="en-US"/>
          </a:p>
        </p:txBody>
      </p:sp>
      <p:sp>
        <p:nvSpPr>
          <p:cNvPr id="20" name="Text 18"/>
          <p:cNvSpPr/>
          <p:nvPr/>
        </p:nvSpPr>
        <p:spPr>
          <a:xfrm>
            <a:off x="9601200" y="1508760"/>
            <a:ext cx="2194560" cy="411480"/>
          </a:xfrm>
          <a:prstGeom prst="rect">
            <a:avLst/>
          </a:prstGeom>
          <a:noFill/>
          <a:ln/>
        </p:spPr>
        <p:txBody>
          <a:bodyPr wrap="square"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0</a:t>
            </a:r>
            <a:endParaRPr lang="en-US" sz="2200" dirty="0"/>
          </a:p>
        </p:txBody>
      </p:sp>
      <p:sp>
        <p:nvSpPr>
          <p:cNvPr id="21" name="Text 19"/>
          <p:cNvSpPr/>
          <p:nvPr/>
        </p:nvSpPr>
        <p:spPr>
          <a:xfrm>
            <a:off x="9601200" y="1920240"/>
            <a:ext cx="2194560" cy="27432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Missing</a:t>
            </a:r>
            <a:endParaRPr lang="en-US" sz="900" dirty="0"/>
          </a:p>
        </p:txBody>
      </p:sp>
      <p:sp>
        <p:nvSpPr>
          <p:cNvPr id="22" name="Text 20"/>
          <p:cNvSpPr/>
          <p:nvPr/>
        </p:nvSpPr>
        <p:spPr>
          <a:xfrm>
            <a:off x="45720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Control coverage</a:t>
            </a:r>
            <a:endParaRPr lang="en-US" sz="14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Arial" pitchFamily="34" charset="0"/>
                          <a:ea typeface="Arial" pitchFamily="34" charset="-122"/>
                          <a:cs typeface="Arial" pitchFamily="34" charset="-120"/>
                        </a:rPr>
                        <a:t>Status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Control</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22C55E"/>
                          </a:solidFill>
                          <a:latin typeface="Arial" pitchFamily="34" charset="0"/>
                          <a:ea typeface="Arial" pitchFamily="34" charset="-122"/>
                          <a:cs typeface="Arial" pitchFamily="34" charset="-120"/>
                        </a:rPr>
                        <a:t>✓ Present</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buNone/>
                      </a:pPr>
                      <a:r>
                        <a:rPr lang="en-US" sz="900" dirty="0">
                          <a:solidFill>
                            <a:srgbClr val="F1F5F9"/>
                          </a:solidFill>
                          <a:latin typeface="Arial" pitchFamily="34" charset="0"/>
                          <a:ea typeface="Arial" pitchFamily="34" charset="-122"/>
                          <a:cs typeface="Arial" pitchFamily="34" charset="-120"/>
                        </a:rPr>
                        <a:t>Restrict to corporate network / trusted locations</a:t>
                      </a:r>
                      <a:endParaRPr lang="en-US" sz="9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bl>
          </a:graphicData>
        </a:graphic>
      </p:graphicFrame>
      <p:sp>
        <p:nvSpPr>
          <p:cNvPr id="24" name="Text 21"/>
          <p:cNvSpPr/>
          <p:nvPr/>
        </p:nvSpPr>
        <p:spPr>
          <a:xfrm>
            <a:off x="6217920" y="2468880"/>
            <a:ext cx="5486400" cy="36576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Baseline gaps</a:t>
            </a:r>
            <a:endParaRPr lang="en-US" sz="1400" dirty="0"/>
          </a:p>
        </p:txBody>
      </p:sp>
      <p:sp>
        <p:nvSpPr>
          <p:cNvPr id="25" name="Text 22"/>
          <p:cNvSpPr/>
          <p:nvPr/>
        </p:nvSpPr>
        <p:spPr>
          <a:xfrm>
            <a:off x="6217920" y="2926080"/>
            <a:ext cx="5486400" cy="365760"/>
          </a:xfrm>
          <a:prstGeom prst="rect">
            <a:avLst/>
          </a:prstGeom>
          <a:noFill/>
          <a:ln/>
        </p:spPr>
        <p:txBody>
          <a:bodyPr wrap="square" rtlCol="0" anchor="ctr"/>
          <a:lstStyle/>
          <a:p>
            <a:pPr marL="0" indent="0">
              <a:buNone/>
            </a:pPr>
            <a:r>
              <a:rPr lang="en-US" sz="1100" i="1" dirty="0">
                <a:solidFill>
                  <a:srgbClr val="94A3B8"/>
                </a:solidFill>
                <a:latin typeface="Arial" pitchFamily="34" charset="0"/>
                <a:ea typeface="Arial" pitchFamily="34" charset="-122"/>
                <a:cs typeface="Arial" pitchFamily="34" charset="-120"/>
              </a:rPr>
              <a:t>No baseline gaps detected for this persona.</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Baseline Gap Analysis</a:t>
            </a:r>
            <a:endParaRPr lang="en-US" sz="2400" dirty="0"/>
          </a:p>
        </p:txBody>
      </p:sp>
      <p:sp>
        <p:nvSpPr>
          <p:cNvPr id="3" name="Text 1"/>
          <p:cNvSpPr/>
          <p:nvPr/>
        </p:nvSpPr>
        <p:spPr>
          <a:xfrm>
            <a:off x="457200" y="868680"/>
            <a:ext cx="10972800" cy="320040"/>
          </a:xfrm>
          <a:prstGeom prst="rect">
            <a:avLst/>
          </a:prstGeom>
          <a:noFill/>
          <a:ln/>
        </p:spPr>
        <p:txBody>
          <a:bodyPr wrap="square" rtlCol="0" anchor="ctr"/>
          <a:lstStyle/>
          <a:p>
            <a:pPr marL="0" indent="0">
              <a:buNone/>
            </a:pPr>
            <a:r>
              <a:rPr lang="en-US" sz="1200" dirty="0">
                <a:solidFill>
                  <a:srgbClr val="94A3B8"/>
                </a:solidFill>
                <a:latin typeface="Arial" pitchFamily="34" charset="0"/>
                <a:ea typeface="Arial" pitchFamily="34" charset="-122"/>
                <a:cs typeface="Arial" pitchFamily="34" charset="-120"/>
              </a:rPr>
              <a:t>Coverage: 67/100  •  56 baseline templates  •  57 tenant policies</a:t>
            </a:r>
            <a:endParaRPr lang="en-US" sz="1200" dirty="0"/>
          </a:p>
        </p:txBody>
      </p:sp>
      <p:sp>
        <p:nvSpPr>
          <p:cNvPr id="4" name="Text 2"/>
          <p:cNvSpPr/>
          <p:nvPr/>
        </p:nvSpPr>
        <p:spPr>
          <a:xfrm>
            <a:off x="731520" y="1371600"/>
            <a:ext cx="2011680" cy="640080"/>
          </a:xfrm>
          <a:prstGeom prst="rect">
            <a:avLst/>
          </a:prstGeom>
          <a:noFill/>
          <a:ln/>
        </p:spPr>
        <p:txBody>
          <a:bodyPr wrap="square" rtlCol="0" anchor="ctr"/>
          <a:lstStyle/>
          <a:p>
            <a:pPr marL="0" indent="0" algn="ctr">
              <a:buNone/>
            </a:pPr>
            <a:r>
              <a:rPr lang="en-US" sz="3600" b="1" dirty="0">
                <a:solidFill>
                  <a:srgbClr val="EF4444"/>
                </a:solidFill>
                <a:latin typeface="Arial" pitchFamily="34" charset="0"/>
                <a:ea typeface="Arial" pitchFamily="34" charset="-122"/>
                <a:cs typeface="Arial" pitchFamily="34" charset="-120"/>
              </a:rPr>
              <a:t>0</a:t>
            </a:r>
            <a:endParaRPr lang="en-US" sz="3600" dirty="0"/>
          </a:p>
        </p:txBody>
      </p:sp>
      <p:sp>
        <p:nvSpPr>
          <p:cNvPr id="5" name="Text 3"/>
          <p:cNvSpPr/>
          <p:nvPr/>
        </p:nvSpPr>
        <p:spPr>
          <a:xfrm>
            <a:off x="731520" y="2011680"/>
            <a:ext cx="201168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Missing</a:t>
            </a:r>
            <a:endParaRPr lang="en-US" sz="1100" dirty="0"/>
          </a:p>
        </p:txBody>
      </p:sp>
      <p:sp>
        <p:nvSpPr>
          <p:cNvPr id="6" name="Text 4"/>
          <p:cNvSpPr/>
          <p:nvPr/>
        </p:nvSpPr>
        <p:spPr>
          <a:xfrm>
            <a:off x="3474720" y="1371600"/>
            <a:ext cx="2011680" cy="640080"/>
          </a:xfrm>
          <a:prstGeom prst="rect">
            <a:avLst/>
          </a:prstGeom>
          <a:noFill/>
          <a:ln/>
        </p:spPr>
        <p:txBody>
          <a:bodyPr wrap="square" rtlCol="0" anchor="ctr"/>
          <a:lstStyle/>
          <a:p>
            <a:pPr marL="0" indent="0" algn="ctr">
              <a:buNone/>
            </a:pPr>
            <a:r>
              <a:rPr lang="en-US" sz="3600" b="1" dirty="0">
                <a:solidFill>
                  <a:srgbClr val="EAB308"/>
                </a:solidFill>
                <a:latin typeface="Arial" pitchFamily="34" charset="0"/>
                <a:ea typeface="Arial" pitchFamily="34" charset="-122"/>
                <a:cs typeface="Arial" pitchFamily="34" charset="-120"/>
              </a:rPr>
              <a:t>37</a:t>
            </a:r>
            <a:endParaRPr lang="en-US" sz="3600" dirty="0"/>
          </a:p>
        </p:txBody>
      </p:sp>
      <p:sp>
        <p:nvSpPr>
          <p:cNvPr id="7" name="Text 5"/>
          <p:cNvSpPr/>
          <p:nvPr/>
        </p:nvSpPr>
        <p:spPr>
          <a:xfrm>
            <a:off x="3474720" y="2011680"/>
            <a:ext cx="201168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Drift</a:t>
            </a:r>
            <a:endParaRPr lang="en-US" sz="1100" dirty="0"/>
          </a:p>
        </p:txBody>
      </p:sp>
      <p:sp>
        <p:nvSpPr>
          <p:cNvPr id="8" name="Text 6"/>
          <p:cNvSpPr/>
          <p:nvPr/>
        </p:nvSpPr>
        <p:spPr>
          <a:xfrm>
            <a:off x="6217920" y="1371600"/>
            <a:ext cx="2011680" cy="640080"/>
          </a:xfrm>
          <a:prstGeom prst="rect">
            <a:avLst/>
          </a:prstGeom>
          <a:noFill/>
          <a:ln/>
        </p:spPr>
        <p:txBody>
          <a:bodyPr wrap="square" rtlCol="0" anchor="ctr"/>
          <a:lstStyle/>
          <a:p>
            <a:pPr marL="0" indent="0" algn="ctr">
              <a:buNone/>
            </a:pPr>
            <a:r>
              <a:rPr lang="en-US" sz="3600" b="1" dirty="0">
                <a:solidFill>
                  <a:srgbClr val="3B82F6"/>
                </a:solidFill>
                <a:latin typeface="Arial" pitchFamily="34" charset="0"/>
                <a:ea typeface="Arial" pitchFamily="34" charset="-122"/>
                <a:cs typeface="Arial" pitchFamily="34" charset="-120"/>
              </a:rPr>
              <a:t>16</a:t>
            </a:r>
            <a:endParaRPr lang="en-US" sz="3600" dirty="0"/>
          </a:p>
        </p:txBody>
      </p:sp>
      <p:sp>
        <p:nvSpPr>
          <p:cNvPr id="9" name="Text 7"/>
          <p:cNvSpPr/>
          <p:nvPr/>
        </p:nvSpPr>
        <p:spPr>
          <a:xfrm>
            <a:off x="6217920" y="2011680"/>
            <a:ext cx="201168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Tenant-only</a:t>
            </a:r>
            <a:endParaRPr lang="en-US" sz="1100" dirty="0"/>
          </a:p>
        </p:txBody>
      </p:sp>
      <p:sp>
        <p:nvSpPr>
          <p:cNvPr id="10" name="Text 8"/>
          <p:cNvSpPr/>
          <p:nvPr/>
        </p:nvSpPr>
        <p:spPr>
          <a:xfrm>
            <a:off x="8961120" y="1371600"/>
            <a:ext cx="2011680" cy="640080"/>
          </a:xfrm>
          <a:prstGeom prst="rect">
            <a:avLst/>
          </a:prstGeom>
          <a:noFill/>
          <a:ln/>
        </p:spPr>
        <p:txBody>
          <a:bodyPr wrap="square" rtlCol="0" anchor="ctr"/>
          <a:lstStyle/>
          <a:p>
            <a:pPr marL="0" indent="0" algn="ctr">
              <a:buNone/>
            </a:pPr>
            <a:r>
              <a:rPr lang="en-US" sz="3600" b="1" dirty="0">
                <a:solidFill>
                  <a:srgbClr val="EAB308"/>
                </a:solidFill>
                <a:latin typeface="Arial" pitchFamily="34" charset="0"/>
                <a:ea typeface="Arial" pitchFamily="34" charset="-122"/>
                <a:cs typeface="Arial" pitchFamily="34" charset="-120"/>
              </a:rPr>
              <a:t>67%</a:t>
            </a:r>
            <a:endParaRPr lang="en-US" sz="3600" dirty="0"/>
          </a:p>
        </p:txBody>
      </p:sp>
      <p:sp>
        <p:nvSpPr>
          <p:cNvPr id="11" name="Text 9"/>
          <p:cNvSpPr/>
          <p:nvPr/>
        </p:nvSpPr>
        <p:spPr>
          <a:xfrm>
            <a:off x="8961120" y="2011680"/>
            <a:ext cx="201168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Coverage</a:t>
            </a:r>
            <a:endParaRPr lang="en-US" sz="11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1097280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0">
                <a:tc>
                  <a:txBody>
                    <a:bodyPr/>
                    <a:lstStyle/>
                    <a:p>
                      <a:pPr marL="0" indent="0">
                        <a:buNone/>
                      </a:pPr>
                      <a:r>
                        <a:rPr lang="en-US" sz="1100" b="1" dirty="0">
                          <a:solidFill>
                            <a:srgbClr val="FFFFFF"/>
                          </a:solidFill>
                          <a:latin typeface="Arial" pitchFamily="34" charset="0"/>
                          <a:ea typeface="Arial" pitchFamily="34" charset="-122"/>
                          <a:cs typeface="Arial" pitchFamily="34" charset="-120"/>
                        </a:rPr>
                        <a:t>Persona</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Missing</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Drift</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Tenant-only</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Total</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Global</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22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3B82F6"/>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1F5F9"/>
                          </a:solidFill>
                          <a:latin typeface="Arial" pitchFamily="34" charset="0"/>
                          <a:ea typeface="Arial" pitchFamily="34" charset="-122"/>
                          <a:cs typeface="Arial" pitchFamily="34" charset="-120"/>
                        </a:rPr>
                        <a:t>29</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Admins (Privileged Roles)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3B82F6"/>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1F5F9"/>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Externals (B2B Guests)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1F5F9"/>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Corporate Service Accounts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1F5F9"/>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Workload Identities</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1F5F9"/>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F1F5F9"/>
                          </a:solidFill>
                          <a:latin typeface="Arial" pitchFamily="34" charset="0"/>
                          <a:ea typeface="Arial" pitchFamily="34" charset="-122"/>
                          <a:cs typeface="Arial" pitchFamily="34" charset="-120"/>
                        </a:rPr>
                        <a:t>Unclassified</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94A3B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EAB308"/>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dirty="0">
                          <a:solidFill>
                            <a:srgbClr val="3B82F6"/>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1F5F9"/>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a:lnL w="3175" cap="flat" cmpd="sng" algn="ctr">
                      <a:solidFill>
                        <a:srgbClr val="94A3B8"/>
                      </a:solidFill>
                      <a:prstDash val="solid"/>
                      <a:round/>
                      <a:headEnd type="none" w="med" len="med"/>
                      <a:tailEnd type="none" w="med" len="med"/>
                    </a:lnL>
                    <a:lnR w="3175" cap="flat" cmpd="sng" algn="ctr">
                      <a:solidFill>
                        <a:srgbClr val="94A3B8"/>
                      </a:solidFill>
                      <a:prstDash val="solid"/>
                      <a:round/>
                      <a:headEnd type="none" w="med" len="med"/>
                      <a:tailEnd type="none" w="med" len="med"/>
                    </a:lnR>
                    <a:lnT w="3175" cap="flat" cmpd="sng" algn="ctr">
                      <a:solidFill>
                        <a:srgbClr val="94A3B8"/>
                      </a:solidFill>
                      <a:prstDash val="solid"/>
                      <a:round/>
                      <a:headEnd type="none" w="med" len="med"/>
                      <a:tailEnd type="none" w="med" len="med"/>
                    </a:lnT>
                    <a:lnB w="3175" cap="flat" cmpd="sng" algn="ctr">
                      <a:solidFill>
                        <a:srgbClr val="94A3B8"/>
                      </a:solidFill>
                      <a:prstDash val="solid"/>
                      <a:round/>
                      <a:headEnd type="none" w="med" len="med"/>
                      <a:tailEnd type="none" w="med" len="med"/>
                    </a:lnB>
                    <a:solidFill>
                      <a:srgbClr val="0F172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74320"/>
            <a:ext cx="10972800" cy="5486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CIS v7.0.0 Alignment</a:t>
            </a:r>
            <a:endParaRPr lang="en-US" sz="2400" dirty="0"/>
          </a:p>
        </p:txBody>
      </p:sp>
      <p:sp>
        <p:nvSpPr>
          <p:cNvPr id="3" name="Text 1"/>
          <p:cNvSpPr/>
          <p:nvPr/>
        </p:nvSpPr>
        <p:spPr>
          <a:xfrm>
            <a:off x="731520" y="1005840"/>
            <a:ext cx="1371600" cy="548640"/>
          </a:xfrm>
          <a:prstGeom prst="rect">
            <a:avLst/>
          </a:prstGeom>
          <a:noFill/>
          <a:ln/>
        </p:spPr>
        <p:txBody>
          <a:bodyPr wrap="square" rtlCol="0" anchor="ctr"/>
          <a:lstStyle/>
          <a:p>
            <a:pPr marL="0" indent="0" algn="ctr">
              <a:buNone/>
            </a:pPr>
            <a:r>
              <a:rPr lang="en-US" sz="3200" b="1" dirty="0">
                <a:solidFill>
                  <a:srgbClr val="22C55E"/>
                </a:solidFill>
                <a:latin typeface="Arial" pitchFamily="34" charset="0"/>
                <a:ea typeface="Arial" pitchFamily="34" charset="-122"/>
                <a:cs typeface="Arial" pitchFamily="34" charset="-120"/>
              </a:rPr>
              <a:t>12</a:t>
            </a:r>
            <a:endParaRPr lang="en-US" sz="3200" dirty="0"/>
          </a:p>
        </p:txBody>
      </p:sp>
      <p:sp>
        <p:nvSpPr>
          <p:cNvPr id="4" name="Text 2"/>
          <p:cNvSpPr/>
          <p:nvPr/>
        </p:nvSpPr>
        <p:spPr>
          <a:xfrm>
            <a:off x="731520" y="155448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Pass</a:t>
            </a:r>
            <a:endParaRPr lang="en-US" sz="1100" dirty="0"/>
          </a:p>
        </p:txBody>
      </p:sp>
      <p:sp>
        <p:nvSpPr>
          <p:cNvPr id="5" name="Text 3"/>
          <p:cNvSpPr/>
          <p:nvPr/>
        </p:nvSpPr>
        <p:spPr>
          <a:xfrm>
            <a:off x="3291840" y="1005840"/>
            <a:ext cx="1371600" cy="548640"/>
          </a:xfrm>
          <a:prstGeom prst="rect">
            <a:avLst/>
          </a:prstGeom>
          <a:noFill/>
          <a:ln/>
        </p:spPr>
        <p:txBody>
          <a:bodyPr wrap="square" rtlCol="0" anchor="ctr"/>
          <a:lstStyle/>
          <a:p>
            <a:pPr marL="0" indent="0" algn="ctr">
              <a:buNone/>
            </a:pPr>
            <a:r>
              <a:rPr lang="en-US" sz="3200" b="1" dirty="0">
                <a:solidFill>
                  <a:srgbClr val="EF4444"/>
                </a:solidFill>
                <a:latin typeface="Arial" pitchFamily="34" charset="0"/>
                <a:ea typeface="Arial" pitchFamily="34" charset="-122"/>
                <a:cs typeface="Arial" pitchFamily="34" charset="-120"/>
              </a:rPr>
              <a:t>0</a:t>
            </a:r>
            <a:endParaRPr lang="en-US" sz="3200" dirty="0"/>
          </a:p>
        </p:txBody>
      </p:sp>
      <p:sp>
        <p:nvSpPr>
          <p:cNvPr id="6" name="Text 4"/>
          <p:cNvSpPr/>
          <p:nvPr/>
        </p:nvSpPr>
        <p:spPr>
          <a:xfrm>
            <a:off x="3291840" y="155448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Fail</a:t>
            </a:r>
            <a:endParaRPr lang="en-US" sz="1100" dirty="0"/>
          </a:p>
        </p:txBody>
      </p:sp>
      <p:sp>
        <p:nvSpPr>
          <p:cNvPr id="7" name="Text 5"/>
          <p:cNvSpPr/>
          <p:nvPr/>
        </p:nvSpPr>
        <p:spPr>
          <a:xfrm>
            <a:off x="5852160" y="1005840"/>
            <a:ext cx="1371600" cy="548640"/>
          </a:xfrm>
          <a:prstGeom prst="rect">
            <a:avLst/>
          </a:prstGeom>
          <a:noFill/>
          <a:ln/>
        </p:spPr>
        <p:txBody>
          <a:bodyPr wrap="square" rtlCol="0" anchor="ctr"/>
          <a:lstStyle/>
          <a:p>
            <a:pPr marL="0" indent="0" algn="ctr">
              <a:buNone/>
            </a:pPr>
            <a:r>
              <a:rPr lang="en-US" sz="3200" b="1" dirty="0">
                <a:solidFill>
                  <a:srgbClr val="EAB308"/>
                </a:solidFill>
                <a:latin typeface="Arial" pitchFamily="34" charset="0"/>
                <a:ea typeface="Arial" pitchFamily="34" charset="-122"/>
                <a:cs typeface="Arial" pitchFamily="34" charset="-120"/>
              </a:rPr>
              <a:t>6</a:t>
            </a:r>
            <a:endParaRPr lang="en-US" sz="3200" dirty="0"/>
          </a:p>
        </p:txBody>
      </p:sp>
      <p:sp>
        <p:nvSpPr>
          <p:cNvPr id="8" name="Text 6"/>
          <p:cNvSpPr/>
          <p:nvPr/>
        </p:nvSpPr>
        <p:spPr>
          <a:xfrm>
            <a:off x="5852160" y="155448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Manual</a:t>
            </a:r>
            <a:endParaRPr lang="en-US" sz="1100" dirty="0"/>
          </a:p>
        </p:txBody>
      </p:sp>
      <p:sp>
        <p:nvSpPr>
          <p:cNvPr id="9" name="Text 7"/>
          <p:cNvSpPr/>
          <p:nvPr/>
        </p:nvSpPr>
        <p:spPr>
          <a:xfrm>
            <a:off x="8412480" y="1005840"/>
            <a:ext cx="1371600" cy="548640"/>
          </a:xfrm>
          <a:prstGeom prst="rect">
            <a:avLst/>
          </a:prstGeom>
          <a:noFill/>
          <a:ln/>
        </p:spPr>
        <p:txBody>
          <a:bodyPr wrap="square" rtlCol="0" anchor="ctr"/>
          <a:lstStyle/>
          <a:p>
            <a:pPr marL="0" indent="0" algn="ctr">
              <a:buNone/>
            </a:pPr>
            <a:r>
              <a:rPr lang="en-US" sz="3200" b="1" dirty="0">
                <a:solidFill>
                  <a:srgbClr val="3B82F6"/>
                </a:solidFill>
                <a:latin typeface="Arial" pitchFamily="34" charset="0"/>
                <a:ea typeface="Arial" pitchFamily="34" charset="-122"/>
                <a:cs typeface="Arial" pitchFamily="34" charset="-120"/>
              </a:rPr>
              <a:t>100%</a:t>
            </a:r>
            <a:endParaRPr lang="en-US" sz="3200" dirty="0"/>
          </a:p>
        </p:txBody>
      </p:sp>
      <p:sp>
        <p:nvSpPr>
          <p:cNvPr id="10" name="Text 8"/>
          <p:cNvSpPr/>
          <p:nvPr/>
        </p:nvSpPr>
        <p:spPr>
          <a:xfrm>
            <a:off x="8412480" y="1554480"/>
            <a:ext cx="1371600" cy="274320"/>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Score</a:t>
            </a:r>
            <a:endParaRPr lang="en-US" sz="11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0972800" cy="914400"/>
        </p:xfrm>
        <a:graphic>
          <a:graphicData uri="http://schemas.openxmlformats.org/drawingml/2006/table">
            <a:tbl>
              <a:tblPr/>
              <a:tblGrid>
                <a:gridCol w="73152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multifactor authentication is enabled for all users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multifactor authentication is enabled for all users in administrative roles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5.3.3</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multifactor authentication is required for guest and external users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2"/>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5.2.2.5</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'Phishing-resistant MFA strength' is required for Administrators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5.2.2.10</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a managed device is required to register security information</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4"/>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5.2.2.7</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Enable Identity Protection sign-in risk policies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5"/>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5.2.2.6</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Enable Identity Protection user risk policies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6"/>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5.2.2.15</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exclusionary geographic access controls are utilized</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7"/>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5.2.2.3</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Enable Conditional Access policies to block legacy authentication</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8"/>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5.3.10</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continuous access evaluation is not disabled</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09"/>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5.3.11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unknown or unsupported device platforms are blocked</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0"/>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the device code sign-in flow is blocked</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1"/>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5.2.2.4</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Sign-in frequency is enabled and browser sessions are not persistent for Administrative users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2"/>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5.4.1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high-risk users are blocked</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3"/>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5.2.2.8</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'sign-in risk' is blocked for medium and high risk</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4"/>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5.2.2.9</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a managed device is required for authentication</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5"/>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5.2.2.16</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Token Protection is enforced for session tokens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6"/>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sign-in frequency for Intune Enrollment is set to 'Every time'</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7"/>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5.2.2.13</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that periodic reauthentication is required for all users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8"/>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5.2.2.14</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trusted 'named locations' are defined</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EAB308"/>
                          </a:solidFill>
                          <a:latin typeface="Arial" pitchFamily="34" charset="0"/>
                          <a:ea typeface="Arial" pitchFamily="34" charset="-122"/>
                          <a:cs typeface="Arial" pitchFamily="34" charset="-120"/>
                        </a:rPr>
                        <a:t>MANUAL</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19"/>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5.2.2.17</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authentication transfer is blocked</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L1</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20"/>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5.4.5</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app protection policy is required for mobile devices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21"/>
                  </a:ext>
                </a:extLst>
              </a:tr>
              <a:tr h="256032">
                <a:tc>
                  <a:txBody>
                    <a:bodyPr/>
                    <a:lstStyle/>
                    <a:p>
                      <a:pPr marL="0" indent="0">
                        <a:buNone/>
                      </a:pPr>
                      <a:r>
                        <a:rPr lang="en-US" sz="800" dirty="0">
                          <a:solidFill>
                            <a:srgbClr val="94A3B8"/>
                          </a:solidFill>
                          <a:latin typeface="Arial" pitchFamily="34" charset="0"/>
                          <a:ea typeface="Arial" pitchFamily="34" charset="-122"/>
                          <a:cs typeface="Arial" pitchFamily="34" charset="-120"/>
                        </a:rPr>
                        <a:t>1.3.2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buNone/>
                      </a:pPr>
                      <a:r>
                        <a:rPr lang="en-US" sz="800" dirty="0">
                          <a:solidFill>
                            <a:srgbClr val="F1F5F9"/>
                          </a:solidFill>
                          <a:latin typeface="Arial" pitchFamily="34" charset="0"/>
                          <a:ea typeface="Arial" pitchFamily="34" charset="-122"/>
                          <a:cs typeface="Arial" pitchFamily="34" charset="-120"/>
                        </a:rPr>
                        <a:t>Ensure 'Idle session timeout' is set to '3 hours (or less)' for unmanaged devices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dirty="0">
                          <a:solidFill>
                            <a:srgbClr val="94A3B8"/>
                          </a:solidFill>
                          <a:latin typeface="Arial" pitchFamily="34" charset="0"/>
                          <a:ea typeface="Arial" pitchFamily="34" charset="-122"/>
                          <a:cs typeface="Arial" pitchFamily="34" charset="-120"/>
                        </a:rPr>
                        <a:t>L2</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tc>
                  <a:txBody>
                    <a:bodyPr/>
                    <a:lstStyle/>
                    <a:p>
                      <a:pPr marL="0" indent="0" algn="ctr">
                        <a:buNone/>
                      </a:pPr>
                      <a:r>
                        <a:rPr lang="en-US" sz="800" b="1" dirty="0">
                          <a:solidFill>
                            <a:srgbClr val="22C55E"/>
                          </a:solidFill>
                          <a:latin typeface="Arial" pitchFamily="34" charset="0"/>
                          <a:ea typeface="Arial" pitchFamily="34" charset="-122"/>
                          <a:cs typeface="Arial" pitchFamily="34" charset="-120"/>
                        </a:rPr>
                        <a:t>PASS</a:t>
                      </a:r>
                      <a:endParaRPr lang="en-US" sz="800" dirty="0">
                        <a:latin typeface="Arial" charset="0"/>
                        <a:ea typeface="Arial" charset="0"/>
                        <a:cs typeface="Arial" charset="0"/>
                      </a:endParaRPr>
                    </a:p>
                  </a:txBody>
                  <a:tcPr anchor="ctr">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1E293B"/>
                    </a:solidFill>
                  </a:tcPr>
                </a:tc>
                <a:extLst>
                  <a:ext uri="{0D108BD9-81ED-4DB2-BD59-A6C34878D82A}">
                    <a16:rowId xmlns:a16="http://schemas.microsoft.com/office/drawing/2014/main" val="1002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0-bc88714345d2}" enabled="1" method="Privileged" siteId="{86600c1e-803d-49b9-a963-036358886be9}" contentBits="0" removed="0"/>
</clbl:labelList>
</file>

<file path=docProps/app.xml><?xml version="1.0" encoding="utf-8"?>
<Properties xmlns="http://schemas.openxmlformats.org/officeDocument/2006/extended-properties" xmlns:vt="http://schemas.openxmlformats.org/officeDocument/2006/docPropsVTypes">
  <TotalTime>1</TotalTime>
  <Words>7251</Words>
  <Application>Microsoft Macintosh PowerPoint</Application>
  <PresentationFormat>Widescreen</PresentationFormat>
  <Paragraphs>2306</Paragraphs>
  <Slides>72</Slides>
  <Notes>72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72</vt:i4>
      </vt:variant>
    </vt:vector>
  </HeadingPairs>
  <TitlesOfParts>
    <vt:vector size="7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Conditional Access Policy Analysis</dc:title>
  <dc:subject>PptxGenJS Presentation</dc:subject>
  <dc:creator>CA Policy Analyzer</dc:creator>
  <cp:lastModifiedBy>Jon Hope</cp:lastModifiedBy>
  <cp:revision>3</cp:revision>
  <dcterms:created xsi:type="dcterms:W3CDTF">2026-08-28T12:52:44Z</dcterms:created>
  <dcterms:modified xsi:type="dcterms:W3CDTF">2026-08-28T12:59:44Z</dcterms:modified>
</cp:coreProperties>
</file>