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72400" y="365760"/>
            <a:ext cx="3474720" cy="2313432"/>
          </a:xfrm>
          <a:prstGeom prst="ellipse">
            <a:avLst/>
          </a:prstGeom>
        </p:spPr>
      </p:pic>
      <p:sp>
        <p:nvSpPr>
          <p:cNvPr id="3" name="Text 0"/>
          <p:cNvSpPr/>
          <p:nvPr/>
        </p:nvSpPr>
        <p:spPr>
          <a:xfrm>
            <a:off x="731520" y="1371600"/>
            <a:ext cx="6858000" cy="2286000"/>
          </a:xfrm>
          <a:prstGeom prst="rect">
            <a:avLst/>
          </a:prstGeom>
          <a:noFill/>
          <a:ln/>
        </p:spPr>
        <p:txBody>
          <a:bodyPr wrap="square" rtlCol="0" anchor="ctr"/>
          <a:lstStyle/>
          <a:p>
            <a:pPr indent="0" marL="0">
              <a:lnSpc>
                <a:spcPct val="120000"/>
              </a:lnSpc>
              <a:buNone/>
            </a:pPr>
            <a:r>
              <a:rPr lang="en-US" sz="3600" b="1" dirty="0">
                <a:solidFill>
                  <a:srgbClr val="FFFFFF"/>
                </a:solidFill>
                <a:latin typeface="Arial" pitchFamily="34" charset="0"/>
                <a:ea typeface="Arial" pitchFamily="34" charset="-122"/>
                <a:cs typeface="Arial" pitchFamily="34" charset="-120"/>
              </a:rPr>
              <a:t>Conditional Access</a:t>
            </a:r>
            <a:endParaRPr lang="en-US" sz="3600" dirty="0"/>
          </a:p>
          <a:p>
            <a:pPr indent="0" marL="0">
              <a:lnSpc>
                <a:spcPct val="120000"/>
              </a:lnSpc>
              <a:buNone/>
            </a:pPr>
            <a:r>
              <a:rPr lang="en-US" sz="3600" b="1" dirty="0">
                <a:solidFill>
                  <a:srgbClr val="FFFFFF"/>
                </a:solidFill>
                <a:latin typeface="Arial" pitchFamily="34" charset="0"/>
                <a:ea typeface="Arial" pitchFamily="34" charset="-122"/>
                <a:cs typeface="Arial" pitchFamily="34" charset="-120"/>
              </a:rPr>
              <a:t>Policy Analysis</a:t>
            </a:r>
            <a:endParaRPr lang="en-US" sz="3600" dirty="0"/>
          </a:p>
        </p:txBody>
      </p:sp>
      <p:sp>
        <p:nvSpPr>
          <p:cNvPr id="4" name="Text 1"/>
          <p:cNvSpPr/>
          <p:nvPr/>
        </p:nvSpPr>
        <p:spPr>
          <a:xfrm>
            <a:off x="731520" y="3474720"/>
            <a:ext cx="10058400" cy="365760"/>
          </a:xfrm>
          <a:prstGeom prst="rect">
            <a:avLst/>
          </a:prstGeom>
          <a:noFill/>
          <a:ln/>
        </p:spPr>
        <p:txBody>
          <a:bodyPr wrap="square" rtlCol="0" anchor="ctr"/>
          <a:lstStyle/>
          <a:p>
            <a:pPr indent="0" marL="0">
              <a:buNone/>
            </a:pPr>
            <a:r>
              <a:rPr lang="en-US" sz="1400" b="1" dirty="0">
                <a:solidFill>
                  <a:srgbClr val="3B82F6"/>
                </a:solidFill>
                <a:latin typeface="Arial" pitchFamily="34" charset="0"/>
                <a:ea typeface="Arial" pitchFamily="34" charset="-122"/>
                <a:cs typeface="Arial" pitchFamily="34" charset="-120"/>
              </a:rPr>
              <a:t>Conditional Access Tech  •  86600c1e-803d-49b9-a963-036358886be9</a:t>
            </a:r>
            <a:endParaRPr lang="en-US" sz="1400" dirty="0"/>
          </a:p>
        </p:txBody>
      </p:sp>
      <p:sp>
        <p:nvSpPr>
          <p:cNvPr id="5" name="Text 2"/>
          <p:cNvSpPr/>
          <p:nvPr/>
        </p:nvSpPr>
        <p:spPr>
          <a:xfrm>
            <a:off x="731520" y="3840480"/>
            <a:ext cx="10058400" cy="45720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Generated 5/6/2026</a:t>
            </a:r>
            <a:endParaRPr lang="en-US" sz="1400" dirty="0"/>
          </a:p>
        </p:txBody>
      </p:sp>
      <p:sp>
        <p:nvSpPr>
          <p:cNvPr id="6" name="Text 3"/>
          <p:cNvSpPr/>
          <p:nvPr/>
        </p:nvSpPr>
        <p:spPr>
          <a:xfrm>
            <a:off x="731520" y="4297680"/>
            <a:ext cx="10058400" cy="36576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35 policies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10972800" cy="5486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
        <p:nvSpPr>
          <p:cNvPr id="3" name="Text 1"/>
          <p:cNvSpPr/>
          <p:nvPr/>
        </p:nvSpPr>
        <p:spPr>
          <a:xfrm>
            <a:off x="731520" y="1097280"/>
            <a:ext cx="2286000" cy="1645920"/>
          </a:xfrm>
          <a:prstGeom prst="rect">
            <a:avLst/>
          </a:prstGeom>
          <a:noFill/>
          <a:ln/>
        </p:spPr>
        <p:txBody>
          <a:bodyPr wrap="square" rtlCol="0" anchor="ctr"/>
          <a:lstStyle/>
          <a:p>
            <a:pPr algn="ctr" indent="0" marL="0">
              <a:buNone/>
            </a:pPr>
            <a:r>
              <a:rPr lang="en-US" sz="6400" b="1" dirty="0">
                <a:solidFill>
                  <a:srgbClr val="EAB308"/>
                </a:solidFill>
                <a:latin typeface="Arial" pitchFamily="34" charset="0"/>
                <a:ea typeface="Arial" pitchFamily="34" charset="-122"/>
                <a:cs typeface="Arial" pitchFamily="34" charset="-120"/>
              </a:rPr>
              <a:t>61</a:t>
            </a:r>
            <a:endParaRPr lang="en-US" sz="6400" dirty="0"/>
          </a:p>
        </p:txBody>
      </p:sp>
      <p:sp>
        <p:nvSpPr>
          <p:cNvPr id="4" name="Text 2"/>
          <p:cNvSpPr/>
          <p:nvPr/>
        </p:nvSpPr>
        <p:spPr>
          <a:xfrm>
            <a:off x="731520" y="2743200"/>
            <a:ext cx="2286000" cy="731520"/>
          </a:xfrm>
          <a:prstGeom prst="rect">
            <a:avLst/>
          </a:prstGeom>
          <a:noFill/>
          <a:ln/>
        </p:spPr>
        <p:txBody>
          <a:bodyPr wrap="square" rtlCol="0" anchor="ctr"/>
          <a:lstStyle/>
          <a:p>
            <a:pPr algn="ctr" indent="0" marL="0">
              <a:lnSpc>
                <a:spcPct val="140000"/>
              </a:lnSpc>
              <a:buNone/>
            </a:pPr>
            <a:r>
              <a:rPr lang="en-US" sz="1100" dirty="0">
                <a:solidFill>
                  <a:srgbClr val="94A3B8"/>
                </a:solidFill>
                <a:latin typeface="Arial" pitchFamily="34" charset="0"/>
                <a:ea typeface="Arial" pitchFamily="34" charset="-122"/>
                <a:cs typeface="Arial" pitchFamily="34" charset="-120"/>
              </a:rPr>
              <a:t>Grade: D</a:t>
            </a:r>
            <a:endParaRPr lang="en-US" sz="1100" dirty="0"/>
          </a:p>
          <a:p>
            <a:pPr algn="ctr" indent="0" marL="0">
              <a:lnSpc>
                <a:spcPct val="140000"/>
              </a:lnSpc>
              <a:buNone/>
            </a:pPr>
            <a:r>
              <a:rPr lang="en-US" sz="1100" dirty="0">
                <a:solidFill>
                  <a:srgbClr val="94A3B8"/>
                </a:solidFill>
                <a:latin typeface="Arial" pitchFamily="34" charset="0"/>
                <a:ea typeface="Arial" pitchFamily="34" charset="-122"/>
                <a:cs typeface="Arial" pitchFamily="34" charset="-120"/>
              </a:rPr>
              <a:t>Security Posture Score</a:t>
            </a:r>
            <a:endParaRPr lang="en-US" sz="1100" dirty="0"/>
          </a:p>
        </p:txBody>
      </p:sp>
      <p:sp>
        <p:nvSpPr>
          <p:cNvPr id="5" name="Text 3"/>
          <p:cNvSpPr/>
          <p:nvPr/>
        </p:nvSpPr>
        <p:spPr>
          <a:xfrm>
            <a:off x="3474720" y="1188720"/>
            <a:ext cx="3657600" cy="411480"/>
          </a:xfrm>
          <a:prstGeom prst="rect">
            <a:avLst/>
          </a:prstGeom>
          <a:noFill/>
          <a:ln/>
        </p:spPr>
        <p:txBody>
          <a:bodyPr wrap="square" rtlCol="0" anchor="ctr"/>
          <a:lstStyle/>
          <a:p>
            <a:pPr indent="0" marL="0">
              <a:buNone/>
            </a:pPr>
            <a:r>
              <a:rPr lang="en-US" sz="1300" dirty="0">
                <a:solidFill>
                  <a:srgbClr val="3B82F6"/>
                </a:solidFill>
                <a:latin typeface="Arial" pitchFamily="34" charset="0"/>
                <a:ea typeface="Arial" pitchFamily="34" charset="-122"/>
                <a:cs typeface="Arial" pitchFamily="34" charset="-120"/>
              </a:rPr>
              <a:t>CIS Alignment:  36 / 50</a:t>
            </a:r>
            <a:endParaRPr lang="en-US" sz="1300" dirty="0"/>
          </a:p>
        </p:txBody>
      </p:sp>
      <p:sp>
        <p:nvSpPr>
          <p:cNvPr id="6" name="Text 4"/>
          <p:cNvSpPr/>
          <p:nvPr/>
        </p:nvSpPr>
        <p:spPr>
          <a:xfrm>
            <a:off x="3474720" y="1828800"/>
            <a:ext cx="3657600" cy="411480"/>
          </a:xfrm>
          <a:prstGeom prst="rect">
            <a:avLst/>
          </a:prstGeom>
          <a:noFill/>
          <a:ln/>
        </p:spPr>
        <p:txBody>
          <a:bodyPr wrap="square" rtlCol="0" anchor="ctr"/>
          <a:lstStyle/>
          <a:p>
            <a:pPr indent="0" marL="0">
              <a:buNone/>
            </a:pPr>
            <a:r>
              <a:rPr lang="en-US" sz="1300" dirty="0">
                <a:solidFill>
                  <a:srgbClr val="A855F7"/>
                </a:solidFill>
                <a:latin typeface="Arial" pitchFamily="34" charset="0"/>
                <a:ea typeface="Arial" pitchFamily="34" charset="-122"/>
                <a:cs typeface="Arial" pitchFamily="34" charset="-120"/>
              </a:rPr>
              <a:t>Template Coverage:  23 / 25</a:t>
            </a:r>
            <a:endParaRPr lang="en-US" sz="1300" dirty="0"/>
          </a:p>
        </p:txBody>
      </p:sp>
      <p:sp>
        <p:nvSpPr>
          <p:cNvPr id="7" name="Text 5"/>
          <p:cNvSpPr/>
          <p:nvPr/>
        </p:nvSpPr>
        <p:spPr>
          <a:xfrm>
            <a:off x="3474720" y="2468880"/>
            <a:ext cx="3657600" cy="411480"/>
          </a:xfrm>
          <a:prstGeom prst="rect">
            <a:avLst/>
          </a:prstGeom>
          <a:noFill/>
          <a:ln/>
        </p:spPr>
        <p:txBody>
          <a:bodyPr wrap="square" rtlCol="0" anchor="ctr"/>
          <a:lstStyle/>
          <a:p>
            <a:pPr indent="0" marL="0">
              <a:buNone/>
            </a:pPr>
            <a:r>
              <a:rPr lang="en-US" sz="1300" dirty="0">
                <a:solidFill>
                  <a:srgbClr val="22C55E"/>
                </a:solidFill>
                <a:latin typeface="Arial" pitchFamily="34" charset="0"/>
                <a:ea typeface="Arial" pitchFamily="34" charset="-122"/>
                <a:cs typeface="Arial" pitchFamily="34" charset="-120"/>
              </a:rPr>
              <a:t>Config Quality:  2 / 25</a:t>
            </a:r>
            <a:endParaRPr lang="en-US" sz="1300" dirty="0"/>
          </a:p>
        </p:txBody>
      </p:sp>
      <p:sp>
        <p:nvSpPr>
          <p:cNvPr id="8" name="Text 6"/>
          <p:cNvSpPr/>
          <p:nvPr/>
        </p:nvSpPr>
        <p:spPr>
          <a:xfrm>
            <a:off x="7772400" y="1188720"/>
            <a:ext cx="1097280" cy="457200"/>
          </a:xfrm>
          <a:prstGeom prst="rect">
            <a:avLst/>
          </a:prstGeom>
          <a:noFill/>
          <a:ln/>
        </p:spPr>
        <p:txBody>
          <a:bodyPr wrap="square" rtlCol="0" anchor="ctr"/>
          <a:lstStyle/>
          <a:p>
            <a:pPr algn="r" indent="0" marL="0">
              <a:buNone/>
            </a:pPr>
            <a:r>
              <a:rPr lang="en-US" sz="2800" b="1" dirty="0">
                <a:solidFill>
                  <a:srgbClr val="FFFFFF"/>
                </a:solidFill>
                <a:latin typeface="Arial" pitchFamily="34" charset="0"/>
                <a:ea typeface="Arial" pitchFamily="34" charset="-122"/>
                <a:cs typeface="Arial" pitchFamily="34" charset="-120"/>
              </a:rPr>
              <a:t>35</a:t>
            </a:r>
            <a:endParaRPr lang="en-US" sz="2800" dirty="0"/>
          </a:p>
        </p:txBody>
      </p:sp>
      <p:sp>
        <p:nvSpPr>
          <p:cNvPr id="9" name="Text 7"/>
          <p:cNvSpPr/>
          <p:nvPr/>
        </p:nvSpPr>
        <p:spPr>
          <a:xfrm>
            <a:off x="8961120" y="1234440"/>
            <a:ext cx="2743200" cy="4114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Total Policies</a:t>
            </a:r>
            <a:endParaRPr lang="en-US" sz="1300" dirty="0"/>
          </a:p>
        </p:txBody>
      </p:sp>
      <p:sp>
        <p:nvSpPr>
          <p:cNvPr id="10" name="Text 8"/>
          <p:cNvSpPr/>
          <p:nvPr/>
        </p:nvSpPr>
        <p:spPr>
          <a:xfrm>
            <a:off x="7772400" y="1783080"/>
            <a:ext cx="1097280" cy="457200"/>
          </a:xfrm>
          <a:prstGeom prst="rect">
            <a:avLst/>
          </a:prstGeom>
          <a:noFill/>
          <a:ln/>
        </p:spPr>
        <p:txBody>
          <a:bodyPr wrap="square" rtlCol="0" anchor="ctr"/>
          <a:lstStyle/>
          <a:p>
            <a:pPr algn="r" indent="0" marL="0">
              <a:buNone/>
            </a:pPr>
            <a:r>
              <a:rPr lang="en-US" sz="2800" b="1" dirty="0">
                <a:solidFill>
                  <a:srgbClr val="22C55E"/>
                </a:solidFill>
                <a:latin typeface="Arial" pitchFamily="34" charset="0"/>
                <a:ea typeface="Arial" pitchFamily="34" charset="-122"/>
                <a:cs typeface="Arial" pitchFamily="34" charset="-120"/>
              </a:rPr>
              <a:t>7</a:t>
            </a:r>
            <a:endParaRPr lang="en-US" sz="2800" dirty="0"/>
          </a:p>
        </p:txBody>
      </p:sp>
      <p:sp>
        <p:nvSpPr>
          <p:cNvPr id="11" name="Text 9"/>
          <p:cNvSpPr/>
          <p:nvPr/>
        </p:nvSpPr>
        <p:spPr>
          <a:xfrm>
            <a:off x="8961120" y="1828800"/>
            <a:ext cx="2743200" cy="4114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Enabled</a:t>
            </a:r>
            <a:endParaRPr lang="en-US" sz="1300" dirty="0"/>
          </a:p>
        </p:txBody>
      </p:sp>
      <p:sp>
        <p:nvSpPr>
          <p:cNvPr id="12" name="Text 10"/>
          <p:cNvSpPr/>
          <p:nvPr/>
        </p:nvSpPr>
        <p:spPr>
          <a:xfrm>
            <a:off x="7772400" y="2377440"/>
            <a:ext cx="1097280" cy="457200"/>
          </a:xfrm>
          <a:prstGeom prst="rect">
            <a:avLst/>
          </a:prstGeom>
          <a:noFill/>
          <a:ln/>
        </p:spPr>
        <p:txBody>
          <a:bodyPr wrap="square" rtlCol="0" anchor="ctr"/>
          <a:lstStyle/>
          <a:p>
            <a:pPr algn="r" indent="0" marL="0">
              <a:buNone/>
            </a:pPr>
            <a:r>
              <a:rPr lang="en-US" sz="2800" b="1" dirty="0">
                <a:solidFill>
                  <a:srgbClr val="EAB308"/>
                </a:solidFill>
                <a:latin typeface="Arial" pitchFamily="34" charset="0"/>
                <a:ea typeface="Arial" pitchFamily="34" charset="-122"/>
                <a:cs typeface="Arial" pitchFamily="34" charset="-120"/>
              </a:rPr>
              <a:t>28</a:t>
            </a:r>
            <a:endParaRPr lang="en-US" sz="2800" dirty="0"/>
          </a:p>
        </p:txBody>
      </p:sp>
      <p:sp>
        <p:nvSpPr>
          <p:cNvPr id="13" name="Text 11"/>
          <p:cNvSpPr/>
          <p:nvPr/>
        </p:nvSpPr>
        <p:spPr>
          <a:xfrm>
            <a:off x="8961120" y="2423160"/>
            <a:ext cx="2743200" cy="4114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Report-only</a:t>
            </a:r>
            <a:endParaRPr lang="en-US" sz="1300" dirty="0"/>
          </a:p>
        </p:txBody>
      </p:sp>
      <p:sp>
        <p:nvSpPr>
          <p:cNvPr id="14" name="Text 12"/>
          <p:cNvSpPr/>
          <p:nvPr/>
        </p:nvSpPr>
        <p:spPr>
          <a:xfrm>
            <a:off x="7772400" y="2971800"/>
            <a:ext cx="1097280" cy="457200"/>
          </a:xfrm>
          <a:prstGeom prst="rect">
            <a:avLst/>
          </a:prstGeom>
          <a:noFill/>
          <a:ln/>
        </p:spPr>
        <p:txBody>
          <a:bodyPr wrap="square" rtlCol="0" anchor="ctr"/>
          <a:lstStyle/>
          <a:p>
            <a:pPr algn="r" indent="0" marL="0">
              <a:buNone/>
            </a:pPr>
            <a:r>
              <a:rPr lang="en-US" sz="2800" b="1" dirty="0">
                <a:solidFill>
                  <a:srgbClr val="94A3B8"/>
                </a:solidFill>
                <a:latin typeface="Arial" pitchFamily="34" charset="0"/>
                <a:ea typeface="Arial" pitchFamily="34" charset="-122"/>
                <a:cs typeface="Arial" pitchFamily="34" charset="-120"/>
              </a:rPr>
              <a:t>0</a:t>
            </a:r>
            <a:endParaRPr lang="en-US" sz="2800" dirty="0"/>
          </a:p>
        </p:txBody>
      </p:sp>
      <p:sp>
        <p:nvSpPr>
          <p:cNvPr id="15" name="Text 13"/>
          <p:cNvSpPr/>
          <p:nvPr/>
        </p:nvSpPr>
        <p:spPr>
          <a:xfrm>
            <a:off x="8961120" y="3017520"/>
            <a:ext cx="2743200" cy="4114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Disabled</a:t>
            </a:r>
            <a:endParaRPr lang="en-US" sz="1300" dirty="0"/>
          </a:p>
        </p:txBody>
      </p:sp>
      <p:sp>
        <p:nvSpPr>
          <p:cNvPr id="16" name="Text 14"/>
          <p:cNvSpPr/>
          <p:nvPr/>
        </p:nvSpPr>
        <p:spPr>
          <a:xfrm>
            <a:off x="457200" y="3840480"/>
            <a:ext cx="109728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Findings Breakdown</a:t>
            </a:r>
            <a:endParaRPr lang="en-US" sz="1400" dirty="0"/>
          </a:p>
        </p:txBody>
      </p:sp>
      <p:sp>
        <p:nvSpPr>
          <p:cNvPr id="17" name="Text 15"/>
          <p:cNvSpPr/>
          <p:nvPr/>
        </p:nvSpPr>
        <p:spPr>
          <a:xfrm>
            <a:off x="731520" y="4389120"/>
            <a:ext cx="1371600" cy="548640"/>
          </a:xfrm>
          <a:prstGeom prst="rect">
            <a:avLst/>
          </a:prstGeom>
          <a:noFill/>
          <a:ln/>
        </p:spPr>
        <p:txBody>
          <a:bodyPr wrap="square" rtlCol="0" anchor="ctr"/>
          <a:lstStyle/>
          <a:p>
            <a:pPr algn="ctr" indent="0" marL="0">
              <a:buNone/>
            </a:pPr>
            <a:r>
              <a:rPr lang="en-US" sz="3200" b="1" dirty="0">
                <a:solidFill>
                  <a:srgbClr val="EF4444"/>
                </a:solidFill>
                <a:latin typeface="Arial" pitchFamily="34" charset="0"/>
                <a:ea typeface="Arial" pitchFamily="34" charset="-122"/>
                <a:cs typeface="Arial" pitchFamily="34" charset="-120"/>
              </a:rPr>
              <a:t>1</a:t>
            </a:r>
            <a:endParaRPr lang="en-US" sz="3200" dirty="0"/>
          </a:p>
        </p:txBody>
      </p:sp>
      <p:sp>
        <p:nvSpPr>
          <p:cNvPr id="18" name="Text 16"/>
          <p:cNvSpPr/>
          <p:nvPr/>
        </p:nvSpPr>
        <p:spPr>
          <a:xfrm>
            <a:off x="731520" y="4937760"/>
            <a:ext cx="1371600" cy="27432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Critical</a:t>
            </a:r>
            <a:endParaRPr lang="en-US" sz="1100" dirty="0"/>
          </a:p>
        </p:txBody>
      </p:sp>
      <p:sp>
        <p:nvSpPr>
          <p:cNvPr id="19" name="Text 17"/>
          <p:cNvSpPr/>
          <p:nvPr/>
        </p:nvSpPr>
        <p:spPr>
          <a:xfrm>
            <a:off x="2834640" y="4389120"/>
            <a:ext cx="1371600" cy="548640"/>
          </a:xfrm>
          <a:prstGeom prst="rect">
            <a:avLst/>
          </a:prstGeom>
          <a:noFill/>
          <a:ln/>
        </p:spPr>
        <p:txBody>
          <a:bodyPr wrap="square" rtlCol="0" anchor="ctr"/>
          <a:lstStyle/>
          <a:p>
            <a:pPr algn="ctr" indent="0" marL="0">
              <a:buNone/>
            </a:pPr>
            <a:r>
              <a:rPr lang="en-US" sz="3200" b="1" dirty="0">
                <a:solidFill>
                  <a:srgbClr val="F97316"/>
                </a:solidFill>
                <a:latin typeface="Arial" pitchFamily="34" charset="0"/>
                <a:ea typeface="Arial" pitchFamily="34" charset="-122"/>
                <a:cs typeface="Arial" pitchFamily="34" charset="-120"/>
              </a:rPr>
              <a:t>18</a:t>
            </a:r>
            <a:endParaRPr lang="en-US" sz="3200" dirty="0"/>
          </a:p>
        </p:txBody>
      </p:sp>
      <p:sp>
        <p:nvSpPr>
          <p:cNvPr id="20" name="Text 18"/>
          <p:cNvSpPr/>
          <p:nvPr/>
        </p:nvSpPr>
        <p:spPr>
          <a:xfrm>
            <a:off x="2834640" y="4937760"/>
            <a:ext cx="1371600" cy="27432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High</a:t>
            </a:r>
            <a:endParaRPr lang="en-US" sz="1100" dirty="0"/>
          </a:p>
        </p:txBody>
      </p:sp>
      <p:sp>
        <p:nvSpPr>
          <p:cNvPr id="21" name="Text 19"/>
          <p:cNvSpPr/>
          <p:nvPr/>
        </p:nvSpPr>
        <p:spPr>
          <a:xfrm>
            <a:off x="4937760" y="4389120"/>
            <a:ext cx="1371600" cy="548640"/>
          </a:xfrm>
          <a:prstGeom prst="rect">
            <a:avLst/>
          </a:prstGeom>
          <a:noFill/>
          <a:ln/>
        </p:spPr>
        <p:txBody>
          <a:bodyPr wrap="square" rtlCol="0" anchor="ctr"/>
          <a:lstStyle/>
          <a:p>
            <a:pPr algn="ctr" indent="0" marL="0">
              <a:buNone/>
            </a:pPr>
            <a:r>
              <a:rPr lang="en-US" sz="3200" b="1" dirty="0">
                <a:solidFill>
                  <a:srgbClr val="EAB308"/>
                </a:solidFill>
                <a:latin typeface="Arial" pitchFamily="34" charset="0"/>
                <a:ea typeface="Arial" pitchFamily="34" charset="-122"/>
                <a:cs typeface="Arial" pitchFamily="34" charset="-120"/>
              </a:rPr>
              <a:t>17</a:t>
            </a:r>
            <a:endParaRPr lang="en-US" sz="3200" dirty="0"/>
          </a:p>
        </p:txBody>
      </p:sp>
      <p:sp>
        <p:nvSpPr>
          <p:cNvPr id="22" name="Text 20"/>
          <p:cNvSpPr/>
          <p:nvPr/>
        </p:nvSpPr>
        <p:spPr>
          <a:xfrm>
            <a:off x="4937760" y="4937760"/>
            <a:ext cx="1371600" cy="27432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Medium</a:t>
            </a:r>
            <a:endParaRPr lang="en-US" sz="1100" dirty="0"/>
          </a:p>
        </p:txBody>
      </p:sp>
      <p:sp>
        <p:nvSpPr>
          <p:cNvPr id="23" name="Text 21"/>
          <p:cNvSpPr/>
          <p:nvPr/>
        </p:nvSpPr>
        <p:spPr>
          <a:xfrm>
            <a:off x="7040880" y="4389120"/>
            <a:ext cx="1371600" cy="548640"/>
          </a:xfrm>
          <a:prstGeom prst="rect">
            <a:avLst/>
          </a:prstGeom>
          <a:noFill/>
          <a:ln/>
        </p:spPr>
        <p:txBody>
          <a:bodyPr wrap="square" rtlCol="0" anchor="ctr"/>
          <a:lstStyle/>
          <a:p>
            <a:pPr algn="ctr" indent="0" marL="0">
              <a:buNone/>
            </a:pPr>
            <a:r>
              <a:rPr lang="en-US" sz="3200" b="1" dirty="0">
                <a:solidFill>
                  <a:srgbClr val="94A3B8"/>
                </a:solidFill>
                <a:latin typeface="Arial" pitchFamily="34" charset="0"/>
                <a:ea typeface="Arial" pitchFamily="34" charset="-122"/>
                <a:cs typeface="Arial" pitchFamily="34" charset="-120"/>
              </a:rPr>
              <a:t>1</a:t>
            </a:r>
            <a:endParaRPr lang="en-US" sz="3200" dirty="0"/>
          </a:p>
        </p:txBody>
      </p:sp>
      <p:sp>
        <p:nvSpPr>
          <p:cNvPr id="24" name="Text 22"/>
          <p:cNvSpPr/>
          <p:nvPr/>
        </p:nvSpPr>
        <p:spPr>
          <a:xfrm>
            <a:off x="7040880" y="4937760"/>
            <a:ext cx="1371600" cy="27432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Low</a:t>
            </a:r>
            <a:endParaRPr lang="en-US" sz="1100" dirty="0"/>
          </a:p>
        </p:txBody>
      </p:sp>
      <p:sp>
        <p:nvSpPr>
          <p:cNvPr id="25" name="Text 23"/>
          <p:cNvSpPr/>
          <p:nvPr/>
        </p:nvSpPr>
        <p:spPr>
          <a:xfrm>
            <a:off x="9144000" y="4389120"/>
            <a:ext cx="1371600" cy="548640"/>
          </a:xfrm>
          <a:prstGeom prst="rect">
            <a:avLst/>
          </a:prstGeom>
          <a:noFill/>
          <a:ln/>
        </p:spPr>
        <p:txBody>
          <a:bodyPr wrap="square" rtlCol="0" anchor="ctr"/>
          <a:lstStyle/>
          <a:p>
            <a:pPr algn="ctr" indent="0" marL="0">
              <a:buNone/>
            </a:pPr>
            <a:r>
              <a:rPr lang="en-US" sz="3200" b="1" dirty="0">
                <a:solidFill>
                  <a:srgbClr val="94A3B8"/>
                </a:solidFill>
                <a:latin typeface="Arial" pitchFamily="34" charset="0"/>
                <a:ea typeface="Arial" pitchFamily="34" charset="-122"/>
                <a:cs typeface="Arial" pitchFamily="34" charset="-120"/>
              </a:rPr>
              <a:t>59</a:t>
            </a:r>
            <a:endParaRPr lang="en-US" sz="3200" dirty="0"/>
          </a:p>
        </p:txBody>
      </p:sp>
      <p:sp>
        <p:nvSpPr>
          <p:cNvPr id="26" name="Text 24"/>
          <p:cNvSpPr/>
          <p:nvPr/>
        </p:nvSpPr>
        <p:spPr>
          <a:xfrm>
            <a:off x="9144000" y="4937760"/>
            <a:ext cx="1371600" cy="27432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Info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BLOCK - Device Code Auth Flow</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8b42eda3-6917-4ab4-afb2-e32c37520f9b</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Broad policy with exclusions — review for gaps</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GRANT - MFA - AllAdmins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f893f39f-2ab3-4f1e-a8e1-9a2b9589a9ce</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43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Roles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Global Admin, Global Reader, Privileged Role Admin, Privileged Auth Admin, Security Admin, Security Operator, Security Reader, Compliance Admin, Compliance Data Admin, Cloud App Security Admin, Authentication Admin, Authentication Policy Admin, Conditional Access Admin, Hybrid Identity Admin, Identity Governance Admin, External Identity Provider Admin, Application Admin, Cloud App Admin, Application Developer, User Admin, Groups Admin, Password Admin, Helpdesk Admin, License Admin, Guest Inviter, Intun Admin, Cloud Device Admin, Windows365 Admin, Windows Update Deployment Admin, Exchange Admin, Share Point Admin, Teams Admin, Fabric Admin, Dynamics365 Admin, Power Platform Admin, Directory Readers, Directory Writers, Domain Name Admin, Billing Admin, Reports Reader, Global Secure Access Admin, Network Admin, Lifecycle Workflows Admin</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BLOCK - Legacy Authentication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9eab445f-7f21-479a-85c9-29769512067e</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exchangeActiveSync, other</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exchangeActiveSync, other</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Broad policy with exclusions — review for gaps</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BLOCK – Countries not Allowed</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f3f4ad30-86a8-4e29-8ec9-4efab1a459f5</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Locations: All locations, Exclude locations: IAC - AllowedCountries,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 CA - TravelingUsers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Device Registration Service bypasses location-based conditions</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Broad policy with exclusions — review for gaps</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BLOCK – Countries not Allowed - NoExclusions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1eaf943a-abad-4c77-b101-0c5342fc1044</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Locations: IAC - Blocked Countries,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Device Registration Service bypasses location-based conditions</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Broad policy with exclusions — review for gaps</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GRANT - MFA - AllUsers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a66e8427-e5e7-4072-bfd1-7e99db7a7dc4</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 (2 exclusions)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Require MFA</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GlobalExclusions,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Microsoft Rights Management Services, Microsoft Intune Enrollment</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(4)</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2 app(s) excluded from "All resources" — verify low-privilege scope enforcement rollout</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2 app(s) excluded from this policy</a:t>
            </a:r>
            <a:endParaRPr lang="en-US" sz="900" dirty="0"/>
          </a:p>
        </p:txBody>
      </p:sp>
      <p:sp>
        <p:nvSpPr>
          <p:cNvPr id="30" name="Text 27"/>
          <p:cNvSpPr/>
          <p:nvPr/>
        </p:nvSpPr>
        <p:spPr>
          <a:xfrm>
            <a:off x="457200" y="58521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31" name="Text 28"/>
          <p:cNvSpPr/>
          <p:nvPr/>
        </p:nvSpPr>
        <p:spPr>
          <a:xfrm>
            <a:off x="457200" y="61722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BLOCK - Authentication Transfer</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fa005ec2-4940-49c8-b4e7-b58e66ef481c</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GlobalExclusions,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BLOCK - Unsupported Device Platforms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9e21fa64-8d9a-4e62-81da-9abce8859a0c</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Platforms: all (exclude: android, iOS, windows, macOS),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Platforms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Broad policy with exclusions — review for gaps</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GRANT - BreakGlass - TrustedLocations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1588fdc7-f34a-468e-8023-4d788ef5d226</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Locations: All locations, Exclude locations: IAC - Trusted Locations (IP),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Breakglass01</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Breakglass02</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(4)</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Device Registration Service bypasses location-based conditions</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Named location "IAC - Trusted Locations (IP)" is not marked as trusted</a:t>
            </a:r>
            <a:endParaRPr lang="en-US" sz="900" dirty="0"/>
          </a:p>
        </p:txBody>
      </p:sp>
      <p:sp>
        <p:nvSpPr>
          <p:cNvPr id="31" name="Text 28"/>
          <p:cNvSpPr/>
          <p:nvPr/>
        </p:nvSpPr>
        <p:spPr>
          <a:xfrm>
            <a:off x="457200" y="589788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Break-glass group not excluded (report-only policy)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GRANT - MFA-Passkey - UserRegistration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30a1edce-e832-456b-b2c5-4b1098d3a9b3</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User actions: urn:user:registerdevice</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Platforms: iOS (exclude: macOS, windows),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MFA-AUTH-Passkey</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Platforms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iOS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Platform condition only targets iOS — user-agent spoofing risk</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GRANT - MFA-Passkeys - ADM-Users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a53c4c2b-b577-4d88-b64d-36b92f8f3ca0</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ADM-Users-Dynamic</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SESSION - Windows - TokenProtection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8bb25c6a-ed35-4556-bed4-b3aaa14e192b</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Office 365 Exchange Online, Office 365 SharePoint Online, Windows 365, Azure Virtual Desktop, Microsoft Teams Services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Platforms: windows, Client apps: mobileAppsAndDesktopClients, Device filter: device.systemLabels -contains "CloudPC" -and device.trustType -eq "AzureAD"</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Office 365 Exchange Online, Office 365 SharePoint Online, Windows 365, Azure Virtual Desktop, Microsoft Teams Services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mobileAppsAndDesktopClients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Platforms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windows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BLOCK – Service Accounts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99eabebd-877c-4800-aa15-d389b8767760</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Locations: All locations, Exclude locations: IAC - Trusted Locations (IP),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CA - ServiceAccounts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GlobalExclusions,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(4)</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Device Registration Service bypasses location-based conditions</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Named location "IAC - Trusted Locations (IP)" is not marked as trusted</a:t>
            </a:r>
            <a:endParaRPr lang="en-US" sz="900" dirty="0"/>
          </a:p>
        </p:txBody>
      </p:sp>
      <p:sp>
        <p:nvSpPr>
          <p:cNvPr id="31" name="Text 28"/>
          <p:cNvSpPr/>
          <p:nvPr/>
        </p:nvSpPr>
        <p:spPr>
          <a:xfrm>
            <a:off x="457200" y="589788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SESSION – Admin Persistence (4 Hours)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04b969aa-3e98-4e0f-8b32-2319b199b56a</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11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browser</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Sign-in frequency: 4 hours, Persistent browser: never</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Roles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Application Admin, Authentication Policy Admin, Cloud App Admin, Compliance Admin, Compliance Data Admin, Conditional Access Admin, Global Admin, Hybrid Identity Admin, Privileged Auth Admin, Privileged Role Admin, Security Admin</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browser</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SESSION – All Users Persistence (9-12 Hours)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ea9459a9-91b6-4d2b-b929-03781ac81d54</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browser</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Sign-in frequency: 12 hours, Persistent browser: never</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browser</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APP - BLOCK - SharePoint-OneDrive-NonTrustedLocations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1f960ec9-885f-4032-a6b2-a5c559279274</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(4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Office 365 SharePoint Online</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Locations: All locations, Exclude locations: All trusted locations,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GlobalExclusions, AVD-ExternalUsers,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Office 365 SharePoint Online</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Policy uses "All trusted locations" but 5 location(s) are NOT trusted</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APP - inforcer - RequireMFA</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1d3a7677-a723-4c56-924c-2e1dc63df105</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Inforcer Integration</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Locations: All locations,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Require MFA</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Inforcer Integration</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APP – BLOCK – AVD - Exclude - AllowedAVDUsers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9bc2ad69-4aed-4242-807d-788446196b8b</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(4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Windows 365, Azure Virtual Desktop</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AVD-ExternalUsers, AVDUsers, 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Windows 365, Azure Virtual Desktop</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APP – BLOCK – AVD - NonTrustedLocations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b13dd393-f644-45c8-81bf-aa7f4032ebd3</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Windows 365, Azure Virtual Desktop</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Locations: All locations, Exclude locations: All trusted locations,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AVD-ExternalUsers, 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Windows 365, Azure Virtual Desktop</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Policy uses "All trusted locations" but 5 location(s) are NOT trusted</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AGENT - BLOCK - HighRiskAgent</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0ab1380f-3863-40a5-ab97-24250e1cf44e</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None</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498348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Break-glass group not excluded (report-only policy)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AGENT - BLOCK - NonTrustedAgents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1d8beea4-2ea1-4758-8e22-d6310a60220a</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None</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498348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Break-glass group not excluded (report-only policy)</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INTUNE - GRANT - RequireCompliantDevice</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660ab461-0de5-4b00-baea-ec7325280f60</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Locations: All locations, Exclude locations: All trusted locations,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Require compliant device OR 💻 Require hybrid Azure AD joined</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CA - DeviceExclusions, 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(6)</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Grant controls use "OR" — weakest control is effective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Device Registration Service bypasses location-based conditions and compliant/hybrid-joined device requirement</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Policy does not require MFA</a:t>
            </a:r>
            <a:endParaRPr lang="en-US" sz="900" dirty="0"/>
          </a:p>
        </p:txBody>
      </p:sp>
      <p:sp>
        <p:nvSpPr>
          <p:cNvPr id="31" name="Text 28"/>
          <p:cNvSpPr/>
          <p:nvPr/>
        </p:nvSpPr>
        <p:spPr>
          <a:xfrm>
            <a:off x="457200" y="589788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32" name="Text 29"/>
          <p:cNvSpPr/>
          <p:nvPr/>
        </p:nvSpPr>
        <p:spPr>
          <a:xfrm>
            <a:off x="457200" y="621792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Policy uses "All trusted locations" but 5 location(s) are NOT trusted</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INTUNE – GRANT – Device Registration from trusted location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aeb49474-5250-4b65-8b0a-56c47127ee0f</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User actions: urn:user:registerdevice</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Auth strength: Multifactor authentication</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CA - DeviceExclusions, 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498348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ZTCA - GLOBAL – BLOCK – Admin Portal</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fafaa50c-0b61-4ac6-a589-f9a1120b2f9e</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Inforcer Integration, Azure Resource Manager, MicrosoftAdminPortals, Microsoft Purview Platform, My Staff</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GlobalExclusions,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Inforcer Integration, Azure Resource Manager, MicrosoftAdminPortals, Microsoft Purview Platform, My Staff</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Windows Azure Active Directory, Microsoft App Access Panel, AADReporting, My Profile</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(4)</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4 app(s) excluded from this policy (1 high-risk)</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30" name="Text 27"/>
          <p:cNvSpPr/>
          <p:nvPr/>
        </p:nvSpPr>
        <p:spPr>
          <a:xfrm>
            <a:off x="457200" y="58521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[LOW]  1 guest/external user type(s) excluded</a:t>
            </a:r>
            <a:endParaRPr lang="en-US" sz="900" dirty="0"/>
          </a:p>
        </p:txBody>
      </p:sp>
      <p:sp>
        <p:nvSpPr>
          <p:cNvPr id="31" name="Text 28"/>
          <p:cNvSpPr/>
          <p:nvPr/>
        </p:nvSpPr>
        <p:spPr>
          <a:xfrm>
            <a:off x="457200" y="61722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ZTCA - INTUNE - BLOCK - AllApps - ExcludeTrustedLocation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2dd84b12-7900-40f0-b192-027c20aaa83f</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Locations: All locations, Exclude locations: All trusted locations, Client apps: all, Device filter: device.isCompliant -eq True -or device.trustType -eq "ServerAD" -or device.trustType -eq "Workplace"</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(5)</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Device Registration Service bypasses location-based conditions</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Policy uses "All trusted locations" but 5 location(s) are NOT trusted</a:t>
            </a:r>
            <a:endParaRPr lang="en-US" sz="900" dirty="0"/>
          </a:p>
        </p:txBody>
      </p:sp>
      <p:sp>
        <p:nvSpPr>
          <p:cNvPr id="31" name="Text 28"/>
          <p:cNvSpPr/>
          <p:nvPr/>
        </p:nvSpPr>
        <p:spPr>
          <a:xfrm>
            <a:off x="457200" y="589788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1 guest/external user type(s) excluded</a:t>
            </a:r>
            <a:endParaRPr lang="en-US" sz="900" dirty="0"/>
          </a:p>
        </p:txBody>
      </p:sp>
      <p:sp>
        <p:nvSpPr>
          <p:cNvPr id="32" name="Text 29"/>
          <p:cNvSpPr/>
          <p:nvPr/>
        </p:nvSpPr>
        <p:spPr>
          <a:xfrm>
            <a:off x="457200" y="621792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ZTCA - GLOBAL - BLOCK - AllApps -Exclude CA-Global</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8417ec17-17f5-44c1-b937-85b1917f5d9e</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Azure-Breakglass, CA - GlobalExclusions, 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APP - SESSION - O365 - Timeoutsettings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c5133041-079f-45ec-b27a-20268546077f</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Office365</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Platforms: all (exclude: android, iOS, macOS, linux), Client apps: browser, Device filter: device.isCompliant -eq True -and device.trustType -eq "ServerAD"</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Office365</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browser</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Platforms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P2 - GLOBAL - GRANT - High-Risk Sign-Ins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53a8df0b-4658-4835-ace2-100b5d287aac</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Sign-in risk: high,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Sign-in frequency: null null</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Sign-in Risk</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P2 - GLOBAL - GRANT - Medium-Risk Sign-Ins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180ab5a3-d3ae-4457-9ef1-e3c06f5dfbfc</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Sign-in risk: medium,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Require MFA</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Sign-in Risk</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P2 - GLOBAL - GRANT - High-Risk Users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bb6a814e-808a-467c-9475-06f89140ce99</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User risk: high,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Require MFA AND 🔑 Require password change</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Sign-in frequency: null null</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User Risk</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All guest/external user type(s) excluded</a:t>
            </a:r>
            <a:endParaRPr lang="en-US" sz="900" dirty="0"/>
          </a:p>
        </p:txBody>
      </p:sp>
      <p:sp>
        <p:nvSpPr>
          <p:cNvPr id="30" name="Text 27"/>
          <p:cNvSpPr/>
          <p:nvPr/>
        </p:nvSpPr>
        <p:spPr>
          <a:xfrm>
            <a:off x="457200" y="58521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P2 - GLOBAL - GRANT - Medium-Risk Users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7475b373-0544-4ee8-8827-cff35009136d</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User risk: medium,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Require MFA AND 🔑 Require password change</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User Risk</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P2 - GLOBAL - BLOCK - RiskyUsers - RegisterSecurityInfo</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768858bd-a5ad-47de-8acb-5e815cde0857</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User actions: urn:user:registersecurityinfo</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User risk: high, medium,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User Risk</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high, medium</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P2 - APP - SESSION - PIM - Reauthentication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a6b3b754-9079-48f0-abb2-9e79b2f41095</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Sign-in frequency: null null</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498348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GRANT - MFA - B2B-Guest</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f25f94e0-98b6-41be-b9d6-68cb781004a4</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0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4983480"/>
            <a:ext cx="10515600" cy="274320"/>
          </a:xfrm>
          <a:prstGeom prst="rect">
            <a:avLst/>
          </a:prstGeom>
          <a:noFill/>
          <a:ln/>
        </p:spPr>
        <p:txBody>
          <a:bodyPr wrap="square" rtlCol="0" anchor="ctr"/>
          <a:lstStyle/>
          <a:p>
            <a:pPr indent="0" marL="0">
              <a:buNone/>
            </a:pPr>
            <a:r>
              <a:rPr lang="en-US" sz="900" dirty="0">
                <a:solidFill>
                  <a:srgbClr val="EAB308"/>
                </a:solidFill>
                <a:latin typeface="Arial" pitchFamily="34" charset="0"/>
                <a:ea typeface="Arial" pitchFamily="34" charset="-122"/>
                <a:cs typeface="Arial" pitchFamily="34" charset="-120"/>
              </a:rPr>
              <a:t>[MEDIUM]  Guest users required to satisfy Authentication strength: Modern MFA + TAP — may need Cross-Tenant Access Settings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sp>
      <p:sp>
        <p:nvSpPr>
          <p:cNvPr id="3" name="Text 1"/>
          <p:cNvSpPr/>
          <p:nvPr/>
        </p:nvSpPr>
        <p:spPr>
          <a:xfrm>
            <a:off x="457200" y="137160"/>
            <a:ext cx="9144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IAC - GLOBAL - GRANT - MFA - Mixed-Guests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indent="0" marL="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ID: e0fabad3-bd0f-42e4-a901-51ef7ab8889c</a:t>
            </a:r>
            <a:endParaRPr lang="en-US" sz="900" dirty="0"/>
          </a:p>
        </p:txBody>
      </p:sp>
      <p:sp>
        <p:nvSpPr>
          <p:cNvPr id="6" name="Shape 4"/>
          <p:cNvSpPr/>
          <p:nvPr/>
        </p:nvSpPr>
        <p:spPr>
          <a:xfrm>
            <a:off x="457200" y="1188720"/>
            <a:ext cx="2011680" cy="1463040"/>
          </a:xfrm>
          <a:prstGeom prst="rect">
            <a:avLst>
              <a:gd name="adj" fmla="val 6250"/>
            </a:avLst>
          </a:prstGeom>
          <a:solidFill>
            <a:srgbClr val="1E293B"/>
          </a:solidFill>
          <a:ln/>
        </p:spPr>
      </p:sp>
      <p:sp>
        <p:nvSpPr>
          <p:cNvPr id="7" name="Text 5"/>
          <p:cNvSpPr/>
          <p:nvPr/>
        </p:nvSpPr>
        <p:spPr>
          <a:xfrm>
            <a:off x="59436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0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gd name="adj" fmla="val 6250"/>
            </a:avLst>
          </a:prstGeom>
          <a:solidFill>
            <a:srgbClr val="1E293B"/>
          </a:solidFill>
          <a:ln/>
        </p:spPr>
      </p:sp>
      <p:sp>
        <p:nvSpPr>
          <p:cNvPr id="11" name="Text 9"/>
          <p:cNvSpPr/>
          <p:nvPr/>
        </p:nvSpPr>
        <p:spPr>
          <a:xfrm>
            <a:off x="274320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gd name="adj" fmla="val 6250"/>
            </a:avLst>
          </a:prstGeom>
          <a:solidFill>
            <a:srgbClr val="1E293B"/>
          </a:solidFill>
          <a:ln/>
        </p:spPr>
      </p:sp>
      <p:sp>
        <p:nvSpPr>
          <p:cNvPr id="15" name="Text 13"/>
          <p:cNvSpPr/>
          <p:nvPr/>
        </p:nvSpPr>
        <p:spPr>
          <a:xfrm>
            <a:off x="489204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gd name="adj" fmla="val 6250"/>
            </a:avLst>
          </a:prstGeom>
          <a:solidFill>
            <a:srgbClr val="1E293B"/>
          </a:solidFill>
          <a:ln/>
        </p:spPr>
      </p:sp>
      <p:sp>
        <p:nvSpPr>
          <p:cNvPr id="19" name="Text 17"/>
          <p:cNvSpPr/>
          <p:nvPr/>
        </p:nvSpPr>
        <p:spPr>
          <a:xfrm>
            <a:off x="704088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 Require MFA</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gd name="adj" fmla="val 6250"/>
            </a:avLst>
          </a:prstGeom>
          <a:solidFill>
            <a:srgbClr val="1E293B"/>
          </a:solidFill>
          <a:ln/>
        </p:spPr>
      </p:sp>
      <p:sp>
        <p:nvSpPr>
          <p:cNvPr id="23" name="Text 21"/>
          <p:cNvSpPr/>
          <p:nvPr/>
        </p:nvSpPr>
        <p:spPr>
          <a:xfrm>
            <a:off x="9189720" y="1280160"/>
            <a:ext cx="173736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indent="0" marL="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gridCol w="8229600"/>
              </a:tblGrid>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CA - Breakglass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74320">
                <a:tc>
                  <a:txBody>
                    <a:bodyPr/>
                    <a:lstStyle/>
                    <a:p>
                      <a:pPr indent="0" marL="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4983480"/>
            <a:ext cx="10515600" cy="274320"/>
          </a:xfrm>
          <a:prstGeom prst="rect">
            <a:avLst/>
          </a:prstGeom>
          <a:noFill/>
          <a:ln/>
        </p:spPr>
        <p:txBody>
          <a:bodyPr wrap="square" rtlCol="0" anchor="ctr"/>
          <a:lstStyle/>
          <a:p>
            <a:pPr indent="0" marL="0">
              <a:buNone/>
            </a:pPr>
            <a:r>
              <a:rPr lang="en-US" sz="900" dirty="0">
                <a:solidFill>
                  <a:srgbClr val="F97316"/>
                </a:solidFill>
                <a:latin typeface="Arial" pitchFamily="34" charset="0"/>
                <a:ea typeface="Arial" pitchFamily="34" charset="-122"/>
                <a:cs typeface="Arial" pitchFamily="34" charset="-120"/>
              </a:rPr>
              <a:t>[HIGH]  Guest users required to satisfy MFA — may need Cross-Tenant Access Settings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10972800" cy="5486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CIS v6.0.0 Alignment</a:t>
            </a:r>
            <a:endParaRPr lang="en-US" sz="2400" dirty="0"/>
          </a:p>
        </p:txBody>
      </p:sp>
      <p:sp>
        <p:nvSpPr>
          <p:cNvPr id="3" name="Text 1"/>
          <p:cNvSpPr/>
          <p:nvPr/>
        </p:nvSpPr>
        <p:spPr>
          <a:xfrm>
            <a:off x="731520" y="1005840"/>
            <a:ext cx="1371600" cy="548640"/>
          </a:xfrm>
          <a:prstGeom prst="rect">
            <a:avLst/>
          </a:prstGeom>
          <a:noFill/>
          <a:ln/>
        </p:spPr>
        <p:txBody>
          <a:bodyPr wrap="square" rtlCol="0" anchor="ctr"/>
          <a:lstStyle/>
          <a:p>
            <a:pPr algn="ctr" indent="0" marL="0">
              <a:buNone/>
            </a:pPr>
            <a:r>
              <a:rPr lang="en-US" sz="3200" b="1" dirty="0">
                <a:solidFill>
                  <a:srgbClr val="22C55E"/>
                </a:solidFill>
                <a:latin typeface="Arial" pitchFamily="34" charset="0"/>
                <a:ea typeface="Arial" pitchFamily="34" charset="-122"/>
                <a:cs typeface="Arial" pitchFamily="34" charset="-120"/>
              </a:rPr>
              <a:t>8</a:t>
            </a:r>
            <a:endParaRPr lang="en-US" sz="3200" dirty="0"/>
          </a:p>
        </p:txBody>
      </p:sp>
      <p:sp>
        <p:nvSpPr>
          <p:cNvPr id="4" name="Text 2"/>
          <p:cNvSpPr/>
          <p:nvPr/>
        </p:nvSpPr>
        <p:spPr>
          <a:xfrm>
            <a:off x="731520" y="1554480"/>
            <a:ext cx="1371600" cy="27432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Pass</a:t>
            </a:r>
            <a:endParaRPr lang="en-US" sz="1100" dirty="0"/>
          </a:p>
        </p:txBody>
      </p:sp>
      <p:sp>
        <p:nvSpPr>
          <p:cNvPr id="5" name="Text 3"/>
          <p:cNvSpPr/>
          <p:nvPr/>
        </p:nvSpPr>
        <p:spPr>
          <a:xfrm>
            <a:off x="3291840" y="1005840"/>
            <a:ext cx="1371600" cy="548640"/>
          </a:xfrm>
          <a:prstGeom prst="rect">
            <a:avLst/>
          </a:prstGeom>
          <a:noFill/>
          <a:ln/>
        </p:spPr>
        <p:txBody>
          <a:bodyPr wrap="square" rtlCol="0" anchor="ctr"/>
          <a:lstStyle/>
          <a:p>
            <a:pPr algn="ctr" indent="0" marL="0">
              <a:buNone/>
            </a:pPr>
            <a:r>
              <a:rPr lang="en-US" sz="3200" b="1" dirty="0">
                <a:solidFill>
                  <a:srgbClr val="EF4444"/>
                </a:solidFill>
                <a:latin typeface="Arial" pitchFamily="34" charset="0"/>
                <a:ea typeface="Arial" pitchFamily="34" charset="-122"/>
                <a:cs typeface="Arial" pitchFamily="34" charset="-120"/>
              </a:rPr>
              <a:t>2</a:t>
            </a:r>
            <a:endParaRPr lang="en-US" sz="3200" dirty="0"/>
          </a:p>
        </p:txBody>
      </p:sp>
      <p:sp>
        <p:nvSpPr>
          <p:cNvPr id="6" name="Text 4"/>
          <p:cNvSpPr/>
          <p:nvPr/>
        </p:nvSpPr>
        <p:spPr>
          <a:xfrm>
            <a:off x="3291840" y="1554480"/>
            <a:ext cx="1371600" cy="27432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Fail</a:t>
            </a:r>
            <a:endParaRPr lang="en-US" sz="1100" dirty="0"/>
          </a:p>
        </p:txBody>
      </p:sp>
      <p:sp>
        <p:nvSpPr>
          <p:cNvPr id="7" name="Text 5"/>
          <p:cNvSpPr/>
          <p:nvPr/>
        </p:nvSpPr>
        <p:spPr>
          <a:xfrm>
            <a:off x="5852160" y="1005840"/>
            <a:ext cx="1371600" cy="548640"/>
          </a:xfrm>
          <a:prstGeom prst="rect">
            <a:avLst/>
          </a:prstGeom>
          <a:noFill/>
          <a:ln/>
        </p:spPr>
        <p:txBody>
          <a:bodyPr wrap="square" rtlCol="0" anchor="ctr"/>
          <a:lstStyle/>
          <a:p>
            <a:pPr algn="ctr" indent="0" marL="0">
              <a:buNone/>
            </a:pPr>
            <a:r>
              <a:rPr lang="en-US" sz="3200" b="1" dirty="0">
                <a:solidFill>
                  <a:srgbClr val="EAB308"/>
                </a:solidFill>
                <a:latin typeface="Arial" pitchFamily="34" charset="0"/>
                <a:ea typeface="Arial" pitchFamily="34" charset="-122"/>
                <a:cs typeface="Arial" pitchFamily="34" charset="-120"/>
              </a:rPr>
              <a:t>9</a:t>
            </a:r>
            <a:endParaRPr lang="en-US" sz="3200" dirty="0"/>
          </a:p>
        </p:txBody>
      </p:sp>
      <p:sp>
        <p:nvSpPr>
          <p:cNvPr id="8" name="Text 6"/>
          <p:cNvSpPr/>
          <p:nvPr/>
        </p:nvSpPr>
        <p:spPr>
          <a:xfrm>
            <a:off x="5852160" y="1554480"/>
            <a:ext cx="1371600" cy="27432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Manual</a:t>
            </a:r>
            <a:endParaRPr lang="en-US" sz="1100" dirty="0"/>
          </a:p>
        </p:txBody>
      </p:sp>
      <p:sp>
        <p:nvSpPr>
          <p:cNvPr id="9" name="Text 7"/>
          <p:cNvSpPr/>
          <p:nvPr/>
        </p:nvSpPr>
        <p:spPr>
          <a:xfrm>
            <a:off x="8412480" y="1005840"/>
            <a:ext cx="1371600" cy="548640"/>
          </a:xfrm>
          <a:prstGeom prst="rect">
            <a:avLst/>
          </a:prstGeom>
          <a:noFill/>
          <a:ln/>
        </p:spPr>
        <p:txBody>
          <a:bodyPr wrap="square" rtlCol="0" anchor="ctr"/>
          <a:lstStyle/>
          <a:p>
            <a:pPr algn="ctr" indent="0" marL="0">
              <a:buNone/>
            </a:pPr>
            <a:r>
              <a:rPr lang="en-US" sz="3200" b="1" dirty="0">
                <a:solidFill>
                  <a:srgbClr val="3B82F6"/>
                </a:solidFill>
                <a:latin typeface="Arial" pitchFamily="34" charset="0"/>
                <a:ea typeface="Arial" pitchFamily="34" charset="-122"/>
                <a:cs typeface="Arial" pitchFamily="34" charset="-120"/>
              </a:rPr>
              <a:t>80%</a:t>
            </a:r>
            <a:endParaRPr lang="en-US" sz="3200" dirty="0"/>
          </a:p>
        </p:txBody>
      </p:sp>
      <p:sp>
        <p:nvSpPr>
          <p:cNvPr id="10" name="Text 8"/>
          <p:cNvSpPr/>
          <p:nvPr/>
        </p:nvSpPr>
        <p:spPr>
          <a:xfrm>
            <a:off x="8412480" y="1554480"/>
            <a:ext cx="1371600" cy="27432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Score</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0972800" cy="914400"/>
        </p:xfrm>
        <a:graphic>
          <a:graphicData uri="http://schemas.openxmlformats.org/drawingml/2006/table">
            <a:tbl>
              <a:tblPr/>
              <a:tblGrid>
                <a:gridCol w="731520"/>
                <a:gridCol w="6858000"/>
                <a:gridCol w="548640"/>
                <a:gridCol w="731520"/>
              </a:tblGrid>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multifactor authentication is required for all users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5.3.2</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multifactor authentication is required for administrative roles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5.3.3</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multifactor authentication is required for guest and external users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5.3.4</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phishing-resistant MFA strength is required for administrators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5.3.5</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MFA is required to register or join devices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5.3.6</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sign-in risk policy is configured</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5.3.7</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user risk policy is configured</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5.3.8</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access from non-allowed countries is blocked</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5.3.9</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legacy authentication is blocked</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5.3.10</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continuous access evaluation is not disabled</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5.3.11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unknown or unsupported device platforms are blocked</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5.3.12</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device code flow is blocked</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5.3.13</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sign-in frequency for admin portals is limited</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L2</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5.4.1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high-risk users are blocked</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5.4.2</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high-risk sign-ins are blocked</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5.4.3</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compliant device requirement is configured</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L2</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5.4.4</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token protection is configured for sensitive applications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L2</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5.4.5</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app protection policy is required for mobile devices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L2</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EF4444"/>
                          </a:solidFill>
                          <a:latin typeface="Arial" pitchFamily="34" charset="0"/>
                          <a:ea typeface="Arial" pitchFamily="34" charset="-122"/>
                          <a:cs typeface="Arial" pitchFamily="34" charset="-120"/>
                        </a:rPr>
                        <a:t>FAIL</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r h="256032">
                <a:tc>
                  <a:txBody>
                    <a:bodyPr/>
                    <a:lstStyle/>
                    <a:p>
                      <a:pPr indent="0" marL="0">
                        <a:buNone/>
                      </a:pPr>
                      <a:r>
                        <a:rPr lang="en-US" sz="800" dirty="0">
                          <a:solidFill>
                            <a:srgbClr val="94A3B8"/>
                          </a:solidFill>
                          <a:latin typeface="Arial" pitchFamily="34" charset="0"/>
                          <a:ea typeface="Arial" pitchFamily="34" charset="-122"/>
                          <a:cs typeface="Arial" pitchFamily="34" charset="-120"/>
                        </a:rPr>
                        <a:t>1.3.2</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indent="0" marL="0">
                        <a:buNone/>
                      </a:pPr>
                      <a:r>
                        <a:rPr lang="en-US" sz="800" dirty="0">
                          <a:solidFill>
                            <a:srgbClr val="F1F5F9"/>
                          </a:solidFill>
                          <a:latin typeface="Arial" pitchFamily="34" charset="0"/>
                          <a:ea typeface="Arial" pitchFamily="34" charset="-122"/>
                          <a:cs typeface="Arial" pitchFamily="34" charset="-120"/>
                        </a:rPr>
                        <a:t>Ensure 'Idle session timeout' is set to '3 hours (or less)' for unmanaged devices</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dirty="0">
                          <a:solidFill>
                            <a:srgbClr val="94A3B8"/>
                          </a:solidFill>
                          <a:latin typeface="Arial" pitchFamily="34" charset="0"/>
                          <a:ea typeface="Arial" pitchFamily="34" charset="-122"/>
                          <a:cs typeface="Arial" pitchFamily="34" charset="-120"/>
                        </a:rPr>
                        <a:t>L2</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algn="ctr" indent="0" marL="0">
                        <a:buNone/>
                      </a:pPr>
                      <a:r>
                        <a:rPr lang="en-US" sz="800" b="1" dirty="0">
                          <a:solidFill>
                            <a:srgbClr val="EF4444"/>
                          </a:solidFill>
                          <a:latin typeface="Arial" pitchFamily="34" charset="0"/>
                          <a:ea typeface="Arial" pitchFamily="34" charset="-122"/>
                          <a:cs typeface="Arial" pitchFamily="34" charset="-120"/>
                        </a:rPr>
                        <a:t>FAIL</a:t>
                      </a:r>
                      <a:endParaRPr lang="en-US" sz="800" dirty="0">
                        <a:latin typeface="Arial" charset="0"/>
                        <a:ea typeface="Arial" charset="0"/>
                        <a:cs typeface="Arial" charset="0"/>
                      </a:endParaRPr>
                    </a:p>
                  </a:txBody>
                  <a:tcPr marL="91440" marR="91440" marT="45720" marB="45720"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Conditional Access Policy Analysis</dc:title>
  <dc:subject>PptxGenJS Presentation</dc:subject>
  <dc:creator>CA Policy Analyzer</dc:creator>
  <cp:lastModifiedBy>CA Policy Analyzer</cp:lastModifiedBy>
  <cp:revision>1</cp:revision>
  <dcterms:created xsi:type="dcterms:W3CDTF">2026-05-06T22:39:32Z</dcterms:created>
  <dcterms:modified xsi:type="dcterms:W3CDTF">2026-05-06T22:39:32Z</dcterms:modified>
</cp:coreProperties>
</file>